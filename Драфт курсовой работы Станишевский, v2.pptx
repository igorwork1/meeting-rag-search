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71" r:id="rId11"/>
    <p:sldId id="263" r:id="rId12"/>
    <p:sldId id="264" r:id="rId13"/>
    <p:sldId id="265" r:id="rId14"/>
    <p:sldId id="266" r:id="rId15"/>
    <p:sldId id="268" r:id="rId16"/>
  </p:sldIdLst>
  <p:sldSz cx="12192000" cy="6858000"/>
  <p:notesSz cx="12192000" cy="6858000"/>
  <p:embeddedFontLst>
    <p:embeddedFont>
      <p:font typeface="Tahoma" panose="020B0604030504040204" pitchFamily="34" charset="0"/>
      <p:regular r:id="rId17"/>
      <p:bold r:id="rId18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93F9F8-B168-44EE-94C5-3476742ABDB6}">
  <a:tblStyle styleId="{9193F9F8-B168-44EE-94C5-3476742ABDB6}" styleName="Table_0">
    <a:wholeTbl>
      <a:tcTxStyle>
        <a:schemeClr val="dk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solidFill>
            <a:srgbClr val="F3EDFA"/>
          </a:solidFill>
        </a:fill>
      </a:tcStyle>
    </a:wholeTbl>
    <a:band1H>
      <a:tcStyle>
        <a:tcBdr/>
        <a:fill>
          <a:solidFill>
            <a:srgbClr val="E6D9F5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D9F5"/>
          </a:solidFill>
        </a:fill>
      </a:tcStyle>
    </a:band1V>
    <a:band2V>
      <a:tcStyle>
        <a:tcBdr/>
        <a:fill>
          <a:solidFill>
            <a:srgbClr val="E6D9F5"/>
          </a:solidFill>
        </a:fill>
      </a:tcStyle>
    </a:band2V>
    <a:lastCol>
      <a:tcStyle>
        <a:tcBdr/>
      </a:tcStyle>
    </a:lastCol>
    <a:firstCol>
      <a:tcStyle>
        <a:tcBdr/>
      </a:tcStyle>
    </a:firstCol>
    <a:lastRow>
      <a:tcStyle>
        <a:tcBdr>
          <a:top>
            <a:ln w="25400">
              <a:solidFill>
                <a:schemeClr val="accent1"/>
              </a:solidFill>
            </a:ln>
          </a:top>
        </a:tcBdr>
        <a:fill>
          <a:solidFill>
            <a:srgbClr val="F3EDFA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F3EDFA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userDrawn="1">
  <p:cSld name="Титульный слайд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>
            <a:spLocks noGrp="1"/>
          </p:cNvSpPr>
          <p:nvPr>
            <p:ph type="ctrTitle"/>
          </p:nvPr>
        </p:nvSpPr>
        <p:spPr bwMode="auto">
          <a:xfrm>
            <a:off x="4573110" y="3745230"/>
            <a:ext cx="617728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nest"/>
              <a:buNone/>
              <a:defRPr sz="2400">
                <a:latin typeface="Onest"/>
                <a:ea typeface="Onest"/>
                <a:cs typeface="One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" name="Google Shape;15;p17"/>
          <p:cNvSpPr/>
          <p:nvPr/>
        </p:nvSpPr>
        <p:spPr bwMode="auto">
          <a:xfrm>
            <a:off x="9896987" y="431701"/>
            <a:ext cx="213259" cy="322771"/>
          </a:xfrm>
          <a:custGeom>
            <a:avLst/>
            <a:gdLst/>
            <a:ahLst/>
            <a:cxnLst/>
            <a:rect l="l" t="t" r="r" b="b"/>
            <a:pathLst>
              <a:path w="213259" h="322771" extrusionOk="0">
                <a:moveTo>
                  <a:pt x="0" y="0"/>
                </a:moveTo>
                <a:lnTo>
                  <a:pt x="213260" y="0"/>
                </a:lnTo>
                <a:lnTo>
                  <a:pt x="213260" y="322771"/>
                </a:lnTo>
                <a:lnTo>
                  <a:pt x="0" y="3227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6;p17"/>
          <p:cNvSpPr/>
          <p:nvPr/>
        </p:nvSpPr>
        <p:spPr bwMode="auto">
          <a:xfrm>
            <a:off x="9788205" y="383546"/>
            <a:ext cx="1924370" cy="419079"/>
          </a:xfrm>
          <a:custGeom>
            <a:avLst/>
            <a:gdLst/>
            <a:ahLst/>
            <a:cxnLst/>
            <a:rect l="l" t="t" r="r" b="b"/>
            <a:pathLst>
              <a:path w="1924370" h="419079" extrusionOk="0">
                <a:moveTo>
                  <a:pt x="419780" y="251772"/>
                </a:moveTo>
                <a:cubicBezTo>
                  <a:pt x="400009" y="347260"/>
                  <a:pt x="314522" y="419079"/>
                  <a:pt x="212044" y="419079"/>
                </a:cubicBezTo>
                <a:cubicBezTo>
                  <a:pt x="109566" y="419079"/>
                  <a:pt x="24078" y="347241"/>
                  <a:pt x="4308" y="251765"/>
                </a:cubicBezTo>
                <a:cubicBezTo>
                  <a:pt x="1483" y="238125"/>
                  <a:pt x="0" y="224004"/>
                  <a:pt x="0" y="209540"/>
                </a:cubicBezTo>
                <a:cubicBezTo>
                  <a:pt x="0" y="93830"/>
                  <a:pt x="94926" y="0"/>
                  <a:pt x="212044" y="0"/>
                </a:cubicBezTo>
                <a:cubicBezTo>
                  <a:pt x="329161" y="0"/>
                  <a:pt x="424087" y="93805"/>
                  <a:pt x="424087" y="209540"/>
                </a:cubicBezTo>
                <a:cubicBezTo>
                  <a:pt x="424087" y="224006"/>
                  <a:pt x="422604" y="238131"/>
                  <a:pt x="419780" y="251772"/>
                </a:cubicBezTo>
                <a:close/>
                <a:moveTo>
                  <a:pt x="248323" y="190665"/>
                </a:moveTo>
                <a:cubicBezTo>
                  <a:pt x="262087" y="185072"/>
                  <a:pt x="270465" y="176497"/>
                  <a:pt x="275975" y="169992"/>
                </a:cubicBezTo>
                <a:cubicBezTo>
                  <a:pt x="286498" y="158067"/>
                  <a:pt x="290787" y="143455"/>
                  <a:pt x="290787" y="129607"/>
                </a:cubicBezTo>
                <a:cubicBezTo>
                  <a:pt x="290787" y="118445"/>
                  <a:pt x="287670" y="96121"/>
                  <a:pt x="267822" y="80770"/>
                </a:cubicBezTo>
                <a:cubicBezTo>
                  <a:pt x="254183" y="70372"/>
                  <a:pt x="242114" y="65370"/>
                  <a:pt x="213315" y="65370"/>
                </a:cubicBezTo>
                <a:lnTo>
                  <a:pt x="198728" y="65370"/>
                </a:lnTo>
                <a:cubicBezTo>
                  <a:pt x="198254" y="65345"/>
                  <a:pt x="197831" y="65345"/>
                  <a:pt x="197282" y="65345"/>
                </a:cubicBezTo>
                <a:lnTo>
                  <a:pt x="137115" y="65345"/>
                </a:lnTo>
                <a:lnTo>
                  <a:pt x="137115" y="345948"/>
                </a:lnTo>
                <a:lnTo>
                  <a:pt x="308790" y="345948"/>
                </a:lnTo>
                <a:lnTo>
                  <a:pt x="308790" y="292084"/>
                </a:lnTo>
                <a:cubicBezTo>
                  <a:pt x="308790" y="240537"/>
                  <a:pt x="291984" y="205893"/>
                  <a:pt x="248323" y="190665"/>
                </a:cubicBezTo>
                <a:close/>
                <a:moveTo>
                  <a:pt x="219576" y="198596"/>
                </a:moveTo>
                <a:cubicBezTo>
                  <a:pt x="255497" y="205455"/>
                  <a:pt x="269892" y="236062"/>
                  <a:pt x="269892" y="286836"/>
                </a:cubicBezTo>
                <a:lnTo>
                  <a:pt x="269892" y="330449"/>
                </a:lnTo>
                <a:lnTo>
                  <a:pt x="238948" y="330449"/>
                </a:lnTo>
                <a:lnTo>
                  <a:pt x="238948" y="236792"/>
                </a:lnTo>
                <a:lnTo>
                  <a:pt x="203217" y="236792"/>
                </a:lnTo>
                <a:lnTo>
                  <a:pt x="203217" y="330547"/>
                </a:lnTo>
                <a:lnTo>
                  <a:pt x="175839" y="330547"/>
                </a:lnTo>
                <a:lnTo>
                  <a:pt x="175839" y="79317"/>
                </a:lnTo>
                <a:lnTo>
                  <a:pt x="203965" y="79342"/>
                </a:lnTo>
                <a:cubicBezTo>
                  <a:pt x="214487" y="79342"/>
                  <a:pt x="230445" y="81657"/>
                  <a:pt x="241740" y="95505"/>
                </a:cubicBezTo>
                <a:cubicBezTo>
                  <a:pt x="247625" y="102527"/>
                  <a:pt x="251215" y="111842"/>
                  <a:pt x="252488" y="121205"/>
                </a:cubicBezTo>
                <a:lnTo>
                  <a:pt x="203217" y="121205"/>
                </a:lnTo>
                <a:lnTo>
                  <a:pt x="203217" y="135028"/>
                </a:lnTo>
                <a:lnTo>
                  <a:pt x="252886" y="135028"/>
                </a:lnTo>
                <a:cubicBezTo>
                  <a:pt x="252512" y="143948"/>
                  <a:pt x="250642" y="153952"/>
                  <a:pt x="241791" y="164572"/>
                </a:cubicBezTo>
                <a:cubicBezTo>
                  <a:pt x="234011" y="174181"/>
                  <a:pt x="221194" y="183126"/>
                  <a:pt x="203167" y="183126"/>
                </a:cubicBezTo>
                <a:lnTo>
                  <a:pt x="202842" y="183126"/>
                </a:lnTo>
                <a:lnTo>
                  <a:pt x="202842" y="197121"/>
                </a:lnTo>
                <a:cubicBezTo>
                  <a:pt x="208874" y="197121"/>
                  <a:pt x="214444" y="197616"/>
                  <a:pt x="219576" y="198596"/>
                </a:cubicBezTo>
                <a:close/>
                <a:moveTo>
                  <a:pt x="887243" y="87242"/>
                </a:moveTo>
                <a:lnTo>
                  <a:pt x="870977" y="98682"/>
                </a:lnTo>
                <a:cubicBezTo>
                  <a:pt x="864072" y="88386"/>
                  <a:pt x="852406" y="81685"/>
                  <a:pt x="838274" y="81685"/>
                </a:cubicBezTo>
                <a:cubicBezTo>
                  <a:pt x="815265" y="81685"/>
                  <a:pt x="798999" y="99335"/>
                  <a:pt x="798999" y="121561"/>
                </a:cubicBezTo>
                <a:cubicBezTo>
                  <a:pt x="798999" y="143787"/>
                  <a:pt x="815265" y="161438"/>
                  <a:pt x="838274" y="161438"/>
                </a:cubicBezTo>
                <a:cubicBezTo>
                  <a:pt x="852406" y="161438"/>
                  <a:pt x="864072" y="154737"/>
                  <a:pt x="870977" y="144441"/>
                </a:cubicBezTo>
                <a:lnTo>
                  <a:pt x="887243" y="155881"/>
                </a:lnTo>
                <a:cubicBezTo>
                  <a:pt x="876395" y="171243"/>
                  <a:pt x="858487" y="181212"/>
                  <a:pt x="838274" y="181212"/>
                </a:cubicBezTo>
                <a:cubicBezTo>
                  <a:pt x="805074" y="181212"/>
                  <a:pt x="778290" y="154574"/>
                  <a:pt x="778290" y="121561"/>
                </a:cubicBezTo>
                <a:cubicBezTo>
                  <a:pt x="778290" y="88549"/>
                  <a:pt x="805074" y="61911"/>
                  <a:pt x="838274" y="61911"/>
                </a:cubicBezTo>
                <a:cubicBezTo>
                  <a:pt x="858487" y="61911"/>
                  <a:pt x="876395" y="71880"/>
                  <a:pt x="887243" y="87242"/>
                </a:cubicBezTo>
                <a:close/>
                <a:moveTo>
                  <a:pt x="597671" y="64362"/>
                </a:moveTo>
                <a:lnTo>
                  <a:pt x="559055" y="64362"/>
                </a:lnTo>
                <a:lnTo>
                  <a:pt x="559055" y="178761"/>
                </a:lnTo>
                <a:lnTo>
                  <a:pt x="600795" y="178761"/>
                </a:lnTo>
                <a:cubicBezTo>
                  <a:pt x="620023" y="178761"/>
                  <a:pt x="634812" y="165523"/>
                  <a:pt x="634812" y="148036"/>
                </a:cubicBezTo>
                <a:cubicBezTo>
                  <a:pt x="634812" y="135126"/>
                  <a:pt x="627418" y="122542"/>
                  <a:pt x="610985" y="118783"/>
                </a:cubicBezTo>
                <a:cubicBezTo>
                  <a:pt x="621504" y="114534"/>
                  <a:pt x="628403" y="104402"/>
                  <a:pt x="628403" y="92471"/>
                </a:cubicBezTo>
                <a:cubicBezTo>
                  <a:pt x="628403" y="76782"/>
                  <a:pt x="615256" y="64362"/>
                  <a:pt x="597671" y="64362"/>
                </a:cubicBezTo>
                <a:close/>
                <a:moveTo>
                  <a:pt x="579434" y="111756"/>
                </a:moveTo>
                <a:lnTo>
                  <a:pt x="579434" y="81522"/>
                </a:lnTo>
                <a:lnTo>
                  <a:pt x="591429" y="81522"/>
                </a:lnTo>
                <a:cubicBezTo>
                  <a:pt x="601619" y="81522"/>
                  <a:pt x="608847" y="86915"/>
                  <a:pt x="608847" y="96557"/>
                </a:cubicBezTo>
                <a:cubicBezTo>
                  <a:pt x="608847" y="105545"/>
                  <a:pt x="602766" y="111756"/>
                  <a:pt x="593567" y="111756"/>
                </a:cubicBezTo>
                <a:lnTo>
                  <a:pt x="579434" y="111756"/>
                </a:lnTo>
                <a:close/>
                <a:moveTo>
                  <a:pt x="579434" y="161601"/>
                </a:moveTo>
                <a:lnTo>
                  <a:pt x="579434" y="128098"/>
                </a:lnTo>
                <a:lnTo>
                  <a:pt x="594224" y="128098"/>
                </a:lnTo>
                <a:cubicBezTo>
                  <a:pt x="605561" y="128098"/>
                  <a:pt x="614438" y="135126"/>
                  <a:pt x="614438" y="144932"/>
                </a:cubicBezTo>
                <a:cubicBezTo>
                  <a:pt x="614438" y="155718"/>
                  <a:pt x="605394" y="161601"/>
                  <a:pt x="594224" y="161601"/>
                </a:cubicBezTo>
                <a:lnTo>
                  <a:pt x="579434" y="161601"/>
                </a:lnTo>
                <a:close/>
                <a:moveTo>
                  <a:pt x="689926" y="178761"/>
                </a:moveTo>
                <a:cubicBezTo>
                  <a:pt x="711453" y="178761"/>
                  <a:pt x="726900" y="163562"/>
                  <a:pt x="726900" y="142970"/>
                </a:cubicBezTo>
                <a:cubicBezTo>
                  <a:pt x="726900" y="122378"/>
                  <a:pt x="710796" y="107180"/>
                  <a:pt x="689926" y="107180"/>
                </a:cubicBezTo>
                <a:lnTo>
                  <a:pt x="671026" y="107343"/>
                </a:lnTo>
                <a:lnTo>
                  <a:pt x="671026" y="64362"/>
                </a:lnTo>
                <a:lnTo>
                  <a:pt x="650651" y="64362"/>
                </a:lnTo>
                <a:lnTo>
                  <a:pt x="650651" y="178761"/>
                </a:lnTo>
                <a:lnTo>
                  <a:pt x="689926" y="178761"/>
                </a:lnTo>
                <a:close/>
                <a:moveTo>
                  <a:pt x="739390" y="64362"/>
                </a:moveTo>
                <a:lnTo>
                  <a:pt x="739390" y="178761"/>
                </a:lnTo>
                <a:lnTo>
                  <a:pt x="759771" y="178761"/>
                </a:lnTo>
                <a:lnTo>
                  <a:pt x="759771" y="64362"/>
                </a:lnTo>
                <a:lnTo>
                  <a:pt x="739390" y="64362"/>
                </a:lnTo>
                <a:close/>
                <a:moveTo>
                  <a:pt x="687465" y="126138"/>
                </a:moveTo>
                <a:cubicBezTo>
                  <a:pt x="698802" y="126138"/>
                  <a:pt x="706525" y="133328"/>
                  <a:pt x="706525" y="143134"/>
                </a:cubicBezTo>
                <a:cubicBezTo>
                  <a:pt x="706525" y="153920"/>
                  <a:pt x="698635" y="159967"/>
                  <a:pt x="687465" y="159967"/>
                </a:cubicBezTo>
                <a:lnTo>
                  <a:pt x="671026" y="159967"/>
                </a:lnTo>
                <a:lnTo>
                  <a:pt x="671026" y="126138"/>
                </a:lnTo>
                <a:lnTo>
                  <a:pt x="687465" y="126138"/>
                </a:lnTo>
                <a:close/>
                <a:moveTo>
                  <a:pt x="903491" y="178761"/>
                </a:moveTo>
                <a:lnTo>
                  <a:pt x="1048767" y="178761"/>
                </a:lnTo>
                <a:lnTo>
                  <a:pt x="1048767" y="64362"/>
                </a:lnTo>
                <a:lnTo>
                  <a:pt x="1028386" y="64362"/>
                </a:lnTo>
                <a:lnTo>
                  <a:pt x="1028386" y="159967"/>
                </a:lnTo>
                <a:lnTo>
                  <a:pt x="986316" y="159967"/>
                </a:lnTo>
                <a:lnTo>
                  <a:pt x="986316" y="64362"/>
                </a:lnTo>
                <a:lnTo>
                  <a:pt x="965941" y="64362"/>
                </a:lnTo>
                <a:lnTo>
                  <a:pt x="965941" y="159967"/>
                </a:lnTo>
                <a:lnTo>
                  <a:pt x="923871" y="159967"/>
                </a:lnTo>
                <a:lnTo>
                  <a:pt x="923871" y="64362"/>
                </a:lnTo>
                <a:lnTo>
                  <a:pt x="903491" y="64362"/>
                </a:lnTo>
                <a:lnTo>
                  <a:pt x="903491" y="178761"/>
                </a:lnTo>
                <a:close/>
                <a:moveTo>
                  <a:pt x="1106347" y="64362"/>
                </a:moveTo>
                <a:lnTo>
                  <a:pt x="1122618" y="64362"/>
                </a:lnTo>
                <a:lnTo>
                  <a:pt x="1167644" y="178761"/>
                </a:lnTo>
                <a:lnTo>
                  <a:pt x="1146284" y="178761"/>
                </a:lnTo>
                <a:lnTo>
                  <a:pt x="1134779" y="149181"/>
                </a:lnTo>
                <a:lnTo>
                  <a:pt x="1094024" y="149181"/>
                </a:lnTo>
                <a:lnTo>
                  <a:pt x="1082519" y="178761"/>
                </a:lnTo>
                <a:lnTo>
                  <a:pt x="1061159" y="178761"/>
                </a:lnTo>
                <a:lnTo>
                  <a:pt x="1106347" y="64362"/>
                </a:lnTo>
                <a:close/>
                <a:moveTo>
                  <a:pt x="1100433" y="131531"/>
                </a:moveTo>
                <a:lnTo>
                  <a:pt x="1128203" y="131531"/>
                </a:lnTo>
                <a:lnTo>
                  <a:pt x="1114399" y="96394"/>
                </a:lnTo>
                <a:lnTo>
                  <a:pt x="1100433" y="131531"/>
                </a:lnTo>
                <a:close/>
                <a:moveTo>
                  <a:pt x="1219369" y="64362"/>
                </a:moveTo>
                <a:cubicBezTo>
                  <a:pt x="1197841" y="64362"/>
                  <a:pt x="1180913" y="81195"/>
                  <a:pt x="1180913" y="102114"/>
                </a:cubicBezTo>
                <a:cubicBezTo>
                  <a:pt x="1180913" y="118620"/>
                  <a:pt x="1192089" y="132021"/>
                  <a:pt x="1207368" y="136270"/>
                </a:cubicBezTo>
                <a:cubicBezTo>
                  <a:pt x="1204014" y="137405"/>
                  <a:pt x="1200901" y="141677"/>
                  <a:pt x="1197512" y="146333"/>
                </a:cubicBezTo>
                <a:cubicBezTo>
                  <a:pt x="1192607" y="153074"/>
                  <a:pt x="1187115" y="160621"/>
                  <a:pt x="1179431" y="160621"/>
                </a:cubicBezTo>
                <a:cubicBezTo>
                  <a:pt x="1177956" y="160621"/>
                  <a:pt x="1176313" y="160457"/>
                  <a:pt x="1174503" y="159803"/>
                </a:cubicBezTo>
                <a:lnTo>
                  <a:pt x="1174503" y="178761"/>
                </a:lnTo>
                <a:cubicBezTo>
                  <a:pt x="1178284" y="179905"/>
                  <a:pt x="1181408" y="180232"/>
                  <a:pt x="1184527" y="180232"/>
                </a:cubicBezTo>
                <a:cubicBezTo>
                  <a:pt x="1202654" y="180232"/>
                  <a:pt x="1211247" y="164546"/>
                  <a:pt x="1217882" y="152435"/>
                </a:cubicBezTo>
                <a:cubicBezTo>
                  <a:pt x="1221288" y="146211"/>
                  <a:pt x="1224181" y="140931"/>
                  <a:pt x="1227582" y="139212"/>
                </a:cubicBezTo>
                <a:lnTo>
                  <a:pt x="1236948" y="139212"/>
                </a:lnTo>
                <a:lnTo>
                  <a:pt x="1236948" y="178761"/>
                </a:lnTo>
                <a:lnTo>
                  <a:pt x="1257329" y="178761"/>
                </a:lnTo>
                <a:lnTo>
                  <a:pt x="1257329" y="64362"/>
                </a:lnTo>
                <a:lnTo>
                  <a:pt x="1219369" y="64362"/>
                </a:lnTo>
                <a:close/>
                <a:moveTo>
                  <a:pt x="1221340" y="120418"/>
                </a:moveTo>
                <a:cubicBezTo>
                  <a:pt x="1210164" y="120418"/>
                  <a:pt x="1201288" y="112736"/>
                  <a:pt x="1201288" y="101950"/>
                </a:cubicBezTo>
                <a:cubicBezTo>
                  <a:pt x="1201288" y="91164"/>
                  <a:pt x="1210164" y="83156"/>
                  <a:pt x="1221340" y="83156"/>
                </a:cubicBezTo>
                <a:lnTo>
                  <a:pt x="1236948" y="83156"/>
                </a:lnTo>
                <a:lnTo>
                  <a:pt x="1236948" y="120418"/>
                </a:lnTo>
                <a:lnTo>
                  <a:pt x="1221340" y="120418"/>
                </a:lnTo>
                <a:close/>
                <a:moveTo>
                  <a:pt x="1463453" y="178761"/>
                </a:moveTo>
                <a:lnTo>
                  <a:pt x="1318183" y="178761"/>
                </a:lnTo>
                <a:lnTo>
                  <a:pt x="1318183" y="64362"/>
                </a:lnTo>
                <a:lnTo>
                  <a:pt x="1338563" y="64362"/>
                </a:lnTo>
                <a:lnTo>
                  <a:pt x="1338563" y="159967"/>
                </a:lnTo>
                <a:lnTo>
                  <a:pt x="1380633" y="159967"/>
                </a:lnTo>
                <a:lnTo>
                  <a:pt x="1380633" y="64362"/>
                </a:lnTo>
                <a:lnTo>
                  <a:pt x="1401008" y="64362"/>
                </a:lnTo>
                <a:lnTo>
                  <a:pt x="1401008" y="159967"/>
                </a:lnTo>
                <a:lnTo>
                  <a:pt x="1443078" y="159967"/>
                </a:lnTo>
                <a:lnTo>
                  <a:pt x="1443078" y="64362"/>
                </a:lnTo>
                <a:lnTo>
                  <a:pt x="1463453" y="64362"/>
                </a:lnTo>
                <a:lnTo>
                  <a:pt x="1463453" y="178761"/>
                </a:lnTo>
                <a:close/>
                <a:moveTo>
                  <a:pt x="1505263" y="64362"/>
                </a:moveTo>
                <a:lnTo>
                  <a:pt x="1484888" y="64362"/>
                </a:lnTo>
                <a:lnTo>
                  <a:pt x="1484888" y="178761"/>
                </a:lnTo>
                <a:lnTo>
                  <a:pt x="1505263" y="178761"/>
                </a:lnTo>
                <a:lnTo>
                  <a:pt x="1505263" y="128916"/>
                </a:lnTo>
                <a:lnTo>
                  <a:pt x="1514629" y="128916"/>
                </a:lnTo>
                <a:cubicBezTo>
                  <a:pt x="1520756" y="129247"/>
                  <a:pt x="1525932" y="137727"/>
                  <a:pt x="1532024" y="147701"/>
                </a:cubicBezTo>
                <a:cubicBezTo>
                  <a:pt x="1540976" y="162354"/>
                  <a:pt x="1551898" y="180232"/>
                  <a:pt x="1570671" y="180232"/>
                </a:cubicBezTo>
                <a:cubicBezTo>
                  <a:pt x="1573789" y="180232"/>
                  <a:pt x="1577080" y="179578"/>
                  <a:pt x="1580365" y="178761"/>
                </a:cubicBezTo>
                <a:lnTo>
                  <a:pt x="1580365" y="159803"/>
                </a:lnTo>
                <a:cubicBezTo>
                  <a:pt x="1580077" y="159875"/>
                  <a:pt x="1579795" y="159946"/>
                  <a:pt x="1579524" y="160016"/>
                </a:cubicBezTo>
                <a:cubicBezTo>
                  <a:pt x="1577916" y="160426"/>
                  <a:pt x="1576509" y="160784"/>
                  <a:pt x="1575109" y="160784"/>
                </a:cubicBezTo>
                <a:cubicBezTo>
                  <a:pt x="1564209" y="160784"/>
                  <a:pt x="1557016" y="149152"/>
                  <a:pt x="1550192" y="138126"/>
                </a:cubicBezTo>
                <a:cubicBezTo>
                  <a:pt x="1544566" y="129032"/>
                  <a:pt x="1539195" y="120350"/>
                  <a:pt x="1532215" y="118947"/>
                </a:cubicBezTo>
                <a:lnTo>
                  <a:pt x="1575927" y="64362"/>
                </a:lnTo>
                <a:lnTo>
                  <a:pt x="1552100" y="64362"/>
                </a:lnTo>
                <a:lnTo>
                  <a:pt x="1515615" y="109958"/>
                </a:lnTo>
                <a:lnTo>
                  <a:pt x="1505263" y="109958"/>
                </a:lnTo>
                <a:lnTo>
                  <a:pt x="1505263" y="64362"/>
                </a:lnTo>
                <a:close/>
                <a:moveTo>
                  <a:pt x="1583316" y="121561"/>
                </a:moveTo>
                <a:cubicBezTo>
                  <a:pt x="1583316" y="88549"/>
                  <a:pt x="1609282" y="61911"/>
                  <a:pt x="1642481" y="61911"/>
                </a:cubicBezTo>
                <a:cubicBezTo>
                  <a:pt x="1675508" y="61911"/>
                  <a:pt x="1701802" y="88549"/>
                  <a:pt x="1701802" y="121561"/>
                </a:cubicBezTo>
                <a:cubicBezTo>
                  <a:pt x="1701802" y="154574"/>
                  <a:pt x="1675508" y="181212"/>
                  <a:pt x="1642481" y="181212"/>
                </a:cubicBezTo>
                <a:cubicBezTo>
                  <a:pt x="1609282" y="181212"/>
                  <a:pt x="1583316" y="154574"/>
                  <a:pt x="1583316" y="121561"/>
                </a:cubicBezTo>
                <a:close/>
                <a:moveTo>
                  <a:pt x="1604026" y="121561"/>
                </a:moveTo>
                <a:cubicBezTo>
                  <a:pt x="1604026" y="143787"/>
                  <a:pt x="1619472" y="161438"/>
                  <a:pt x="1642481" y="161438"/>
                </a:cubicBezTo>
                <a:cubicBezTo>
                  <a:pt x="1665652" y="161438"/>
                  <a:pt x="1681099" y="143787"/>
                  <a:pt x="1681099" y="121561"/>
                </a:cubicBezTo>
                <a:cubicBezTo>
                  <a:pt x="1681099" y="99335"/>
                  <a:pt x="1665652" y="81685"/>
                  <a:pt x="1642481" y="81685"/>
                </a:cubicBezTo>
                <a:cubicBezTo>
                  <a:pt x="1619472" y="81685"/>
                  <a:pt x="1604026" y="99335"/>
                  <a:pt x="1604026" y="121561"/>
                </a:cubicBezTo>
                <a:close/>
                <a:moveTo>
                  <a:pt x="1785417" y="178761"/>
                </a:moveTo>
                <a:lnTo>
                  <a:pt x="1805625" y="178761"/>
                </a:lnTo>
                <a:lnTo>
                  <a:pt x="1805625" y="64362"/>
                </a:lnTo>
                <a:lnTo>
                  <a:pt x="1728886" y="64362"/>
                </a:lnTo>
                <a:cubicBezTo>
                  <a:pt x="1728886" y="144605"/>
                  <a:pt x="1720667" y="160784"/>
                  <a:pt x="1705053" y="160784"/>
                </a:cubicBezTo>
                <a:cubicBezTo>
                  <a:pt x="1703295" y="160784"/>
                  <a:pt x="1702304" y="160496"/>
                  <a:pt x="1700828" y="160067"/>
                </a:cubicBezTo>
                <a:cubicBezTo>
                  <a:pt x="1700373" y="159936"/>
                  <a:pt x="1699877" y="159793"/>
                  <a:pt x="1699301" y="159640"/>
                </a:cubicBezTo>
                <a:lnTo>
                  <a:pt x="1699301" y="178761"/>
                </a:lnTo>
                <a:cubicBezTo>
                  <a:pt x="1703577" y="179741"/>
                  <a:pt x="1706373" y="180232"/>
                  <a:pt x="1709987" y="180232"/>
                </a:cubicBezTo>
                <a:cubicBezTo>
                  <a:pt x="1734967" y="180232"/>
                  <a:pt x="1746961" y="156861"/>
                  <a:pt x="1746961" y="82829"/>
                </a:cubicBezTo>
                <a:lnTo>
                  <a:pt x="1785417" y="82829"/>
                </a:lnTo>
                <a:lnTo>
                  <a:pt x="1785417" y="178761"/>
                </a:lnTo>
                <a:close/>
                <a:moveTo>
                  <a:pt x="1863073" y="64362"/>
                </a:moveTo>
                <a:lnTo>
                  <a:pt x="1879344" y="64362"/>
                </a:lnTo>
                <a:lnTo>
                  <a:pt x="1924370" y="178761"/>
                </a:lnTo>
                <a:lnTo>
                  <a:pt x="1903004" y="178761"/>
                </a:lnTo>
                <a:lnTo>
                  <a:pt x="1891500" y="149181"/>
                </a:lnTo>
                <a:lnTo>
                  <a:pt x="1850750" y="149181"/>
                </a:lnTo>
                <a:lnTo>
                  <a:pt x="1839245" y="178761"/>
                </a:lnTo>
                <a:lnTo>
                  <a:pt x="1817879" y="178761"/>
                </a:lnTo>
                <a:lnTo>
                  <a:pt x="1863073" y="64362"/>
                </a:lnTo>
                <a:close/>
                <a:moveTo>
                  <a:pt x="1857159" y="131531"/>
                </a:moveTo>
                <a:lnTo>
                  <a:pt x="1884929" y="131531"/>
                </a:lnTo>
                <a:lnTo>
                  <a:pt x="1871125" y="96394"/>
                </a:lnTo>
                <a:lnTo>
                  <a:pt x="1857159" y="131531"/>
                </a:lnTo>
                <a:close/>
                <a:moveTo>
                  <a:pt x="592086" y="283281"/>
                </a:moveTo>
                <a:lnTo>
                  <a:pt x="592086" y="300604"/>
                </a:lnTo>
                <a:lnTo>
                  <a:pt x="641879" y="300604"/>
                </a:lnTo>
                <a:cubicBezTo>
                  <a:pt x="639412" y="319562"/>
                  <a:pt x="624132" y="333943"/>
                  <a:pt x="603423" y="333943"/>
                </a:cubicBezTo>
                <a:cubicBezTo>
                  <a:pt x="589290" y="333943"/>
                  <a:pt x="577624" y="327243"/>
                  <a:pt x="570722" y="316947"/>
                </a:cubicBezTo>
                <a:lnTo>
                  <a:pt x="554453" y="328387"/>
                </a:lnTo>
                <a:cubicBezTo>
                  <a:pt x="565299" y="343749"/>
                  <a:pt x="583209" y="353718"/>
                  <a:pt x="603423" y="353718"/>
                </a:cubicBezTo>
                <a:cubicBezTo>
                  <a:pt x="636622" y="353718"/>
                  <a:pt x="663407" y="327079"/>
                  <a:pt x="663407" y="294067"/>
                </a:cubicBezTo>
                <a:cubicBezTo>
                  <a:pt x="663407" y="261055"/>
                  <a:pt x="636622" y="234416"/>
                  <a:pt x="603423" y="234416"/>
                </a:cubicBezTo>
                <a:cubicBezTo>
                  <a:pt x="583209" y="234416"/>
                  <a:pt x="565299" y="244385"/>
                  <a:pt x="554453" y="259748"/>
                </a:cubicBezTo>
                <a:lnTo>
                  <a:pt x="570722" y="271187"/>
                </a:lnTo>
                <a:cubicBezTo>
                  <a:pt x="577624" y="260892"/>
                  <a:pt x="589290" y="254191"/>
                  <a:pt x="603423" y="254191"/>
                </a:cubicBezTo>
                <a:cubicBezTo>
                  <a:pt x="622322" y="254191"/>
                  <a:pt x="636951" y="266612"/>
                  <a:pt x="640893" y="283281"/>
                </a:cubicBezTo>
                <a:lnTo>
                  <a:pt x="592086" y="283281"/>
                </a:lnTo>
                <a:close/>
                <a:moveTo>
                  <a:pt x="681943" y="236868"/>
                </a:moveTo>
                <a:lnTo>
                  <a:pt x="702324" y="236868"/>
                </a:lnTo>
                <a:lnTo>
                  <a:pt x="702324" y="282464"/>
                </a:lnTo>
                <a:lnTo>
                  <a:pt x="712675" y="282464"/>
                </a:lnTo>
                <a:lnTo>
                  <a:pt x="749160" y="236868"/>
                </a:lnTo>
                <a:lnTo>
                  <a:pt x="772987" y="236868"/>
                </a:lnTo>
                <a:lnTo>
                  <a:pt x="729275" y="291452"/>
                </a:lnTo>
                <a:cubicBezTo>
                  <a:pt x="736255" y="292856"/>
                  <a:pt x="741627" y="301538"/>
                  <a:pt x="747252" y="310632"/>
                </a:cubicBezTo>
                <a:cubicBezTo>
                  <a:pt x="754071" y="321657"/>
                  <a:pt x="761270" y="333290"/>
                  <a:pt x="772163" y="333290"/>
                </a:cubicBezTo>
                <a:cubicBezTo>
                  <a:pt x="773570" y="333290"/>
                  <a:pt x="774970" y="332932"/>
                  <a:pt x="776578" y="332522"/>
                </a:cubicBezTo>
                <a:lnTo>
                  <a:pt x="776982" y="332419"/>
                </a:lnTo>
                <a:lnTo>
                  <a:pt x="777426" y="332309"/>
                </a:lnTo>
                <a:lnTo>
                  <a:pt x="777426" y="351266"/>
                </a:lnTo>
                <a:cubicBezTo>
                  <a:pt x="774134" y="352084"/>
                  <a:pt x="770849" y="352737"/>
                  <a:pt x="767725" y="352737"/>
                </a:cubicBezTo>
                <a:cubicBezTo>
                  <a:pt x="748952" y="352737"/>
                  <a:pt x="738036" y="334860"/>
                  <a:pt x="729085" y="320207"/>
                </a:cubicBezTo>
                <a:cubicBezTo>
                  <a:pt x="722992" y="310232"/>
                  <a:pt x="717811" y="301752"/>
                  <a:pt x="711690" y="301421"/>
                </a:cubicBezTo>
                <a:lnTo>
                  <a:pt x="702324" y="301421"/>
                </a:lnTo>
                <a:lnTo>
                  <a:pt x="702324" y="351266"/>
                </a:lnTo>
                <a:lnTo>
                  <a:pt x="681943" y="351266"/>
                </a:lnTo>
                <a:lnTo>
                  <a:pt x="681943" y="236868"/>
                </a:lnTo>
                <a:close/>
                <a:moveTo>
                  <a:pt x="839536" y="234416"/>
                </a:moveTo>
                <a:cubicBezTo>
                  <a:pt x="806342" y="234416"/>
                  <a:pt x="780377" y="261055"/>
                  <a:pt x="780377" y="294067"/>
                </a:cubicBezTo>
                <a:cubicBezTo>
                  <a:pt x="780377" y="327079"/>
                  <a:pt x="806342" y="353718"/>
                  <a:pt x="839536" y="353718"/>
                </a:cubicBezTo>
                <a:cubicBezTo>
                  <a:pt x="872568" y="353718"/>
                  <a:pt x="898862" y="327079"/>
                  <a:pt x="898862" y="294067"/>
                </a:cubicBezTo>
                <a:cubicBezTo>
                  <a:pt x="898862" y="261055"/>
                  <a:pt x="872568" y="234416"/>
                  <a:pt x="839536" y="234416"/>
                </a:cubicBezTo>
                <a:close/>
                <a:moveTo>
                  <a:pt x="839536" y="333943"/>
                </a:moveTo>
                <a:cubicBezTo>
                  <a:pt x="816533" y="333943"/>
                  <a:pt x="801080" y="316293"/>
                  <a:pt x="801080" y="294067"/>
                </a:cubicBezTo>
                <a:cubicBezTo>
                  <a:pt x="801080" y="271841"/>
                  <a:pt x="816533" y="254191"/>
                  <a:pt x="839536" y="254191"/>
                </a:cubicBezTo>
                <a:cubicBezTo>
                  <a:pt x="862706" y="254191"/>
                  <a:pt x="878153" y="271841"/>
                  <a:pt x="878153" y="294067"/>
                </a:cubicBezTo>
                <a:cubicBezTo>
                  <a:pt x="878153" y="316293"/>
                  <a:pt x="862706" y="333943"/>
                  <a:pt x="839536" y="333943"/>
                </a:cubicBezTo>
                <a:close/>
                <a:moveTo>
                  <a:pt x="917456" y="236868"/>
                </a:moveTo>
                <a:lnTo>
                  <a:pt x="937831" y="236868"/>
                </a:lnTo>
                <a:lnTo>
                  <a:pt x="937831" y="282464"/>
                </a:lnTo>
                <a:lnTo>
                  <a:pt x="997486" y="282464"/>
                </a:lnTo>
                <a:lnTo>
                  <a:pt x="997486" y="236868"/>
                </a:lnTo>
                <a:lnTo>
                  <a:pt x="1017861" y="236868"/>
                </a:lnTo>
                <a:lnTo>
                  <a:pt x="1017861" y="351266"/>
                </a:lnTo>
                <a:lnTo>
                  <a:pt x="997486" y="351266"/>
                </a:lnTo>
                <a:lnTo>
                  <a:pt x="997486" y="301421"/>
                </a:lnTo>
                <a:lnTo>
                  <a:pt x="937831" y="301421"/>
                </a:lnTo>
                <a:lnTo>
                  <a:pt x="937831" y="351266"/>
                </a:lnTo>
                <a:lnTo>
                  <a:pt x="917456" y="351266"/>
                </a:lnTo>
                <a:lnTo>
                  <a:pt x="917456" y="236868"/>
                </a:lnTo>
                <a:close/>
                <a:moveTo>
                  <a:pt x="1095592" y="234416"/>
                </a:moveTo>
                <a:cubicBezTo>
                  <a:pt x="1062392" y="234416"/>
                  <a:pt x="1036426" y="261055"/>
                  <a:pt x="1036426" y="294067"/>
                </a:cubicBezTo>
                <a:cubicBezTo>
                  <a:pt x="1036426" y="327079"/>
                  <a:pt x="1062392" y="353718"/>
                  <a:pt x="1095592" y="353718"/>
                </a:cubicBezTo>
                <a:cubicBezTo>
                  <a:pt x="1128618" y="353718"/>
                  <a:pt x="1154912" y="327079"/>
                  <a:pt x="1154912" y="294067"/>
                </a:cubicBezTo>
                <a:cubicBezTo>
                  <a:pt x="1154912" y="261055"/>
                  <a:pt x="1128618" y="234416"/>
                  <a:pt x="1095592" y="234416"/>
                </a:cubicBezTo>
                <a:close/>
                <a:moveTo>
                  <a:pt x="1095592" y="333943"/>
                </a:moveTo>
                <a:cubicBezTo>
                  <a:pt x="1072583" y="333943"/>
                  <a:pt x="1057136" y="316293"/>
                  <a:pt x="1057136" y="294067"/>
                </a:cubicBezTo>
                <a:cubicBezTo>
                  <a:pt x="1057136" y="271841"/>
                  <a:pt x="1072583" y="254191"/>
                  <a:pt x="1095592" y="254191"/>
                </a:cubicBezTo>
                <a:cubicBezTo>
                  <a:pt x="1118762" y="254191"/>
                  <a:pt x="1134209" y="271841"/>
                  <a:pt x="1134209" y="294067"/>
                </a:cubicBezTo>
                <a:cubicBezTo>
                  <a:pt x="1134209" y="316293"/>
                  <a:pt x="1118762" y="333943"/>
                  <a:pt x="1095592" y="333943"/>
                </a:cubicBezTo>
                <a:close/>
                <a:moveTo>
                  <a:pt x="1294205" y="351266"/>
                </a:moveTo>
                <a:lnTo>
                  <a:pt x="1273831" y="351266"/>
                </a:lnTo>
                <a:lnTo>
                  <a:pt x="1267911" y="283281"/>
                </a:lnTo>
                <a:lnTo>
                  <a:pt x="1235865" y="351266"/>
                </a:lnTo>
                <a:lnTo>
                  <a:pt x="1225841" y="351266"/>
                </a:lnTo>
                <a:lnTo>
                  <a:pt x="1193962" y="283281"/>
                </a:lnTo>
                <a:lnTo>
                  <a:pt x="1188048" y="351266"/>
                </a:lnTo>
                <a:lnTo>
                  <a:pt x="1167668" y="351266"/>
                </a:lnTo>
                <a:lnTo>
                  <a:pt x="1177529" y="236868"/>
                </a:lnTo>
                <a:lnTo>
                  <a:pt x="1192648" y="236868"/>
                </a:lnTo>
                <a:lnTo>
                  <a:pt x="1230775" y="315639"/>
                </a:lnTo>
                <a:lnTo>
                  <a:pt x="1269064" y="236868"/>
                </a:lnTo>
                <a:lnTo>
                  <a:pt x="1284344" y="236868"/>
                </a:lnTo>
                <a:lnTo>
                  <a:pt x="1294205" y="351266"/>
                </a:lnTo>
                <a:close/>
                <a:moveTo>
                  <a:pt x="1332823" y="236868"/>
                </a:moveTo>
                <a:lnTo>
                  <a:pt x="1312448" y="236868"/>
                </a:lnTo>
                <a:lnTo>
                  <a:pt x="1312448" y="351266"/>
                </a:lnTo>
                <a:lnTo>
                  <a:pt x="1329537" y="351266"/>
                </a:lnTo>
                <a:lnTo>
                  <a:pt x="1389192" y="272495"/>
                </a:lnTo>
                <a:lnTo>
                  <a:pt x="1389192" y="351266"/>
                </a:lnTo>
                <a:lnTo>
                  <a:pt x="1409567" y="351266"/>
                </a:lnTo>
                <a:lnTo>
                  <a:pt x="1409567" y="236868"/>
                </a:lnTo>
                <a:lnTo>
                  <a:pt x="1392478" y="236868"/>
                </a:lnTo>
                <a:lnTo>
                  <a:pt x="1332823" y="315803"/>
                </a:lnTo>
                <a:lnTo>
                  <a:pt x="1332823" y="236868"/>
                </a:lnTo>
                <a:close/>
                <a:moveTo>
                  <a:pt x="1431003" y="236868"/>
                </a:moveTo>
                <a:lnTo>
                  <a:pt x="1451384" y="236868"/>
                </a:lnTo>
                <a:lnTo>
                  <a:pt x="1451384" y="282464"/>
                </a:lnTo>
                <a:lnTo>
                  <a:pt x="1461735" y="282464"/>
                </a:lnTo>
                <a:lnTo>
                  <a:pt x="1498214" y="236868"/>
                </a:lnTo>
                <a:lnTo>
                  <a:pt x="1522042" y="236868"/>
                </a:lnTo>
                <a:lnTo>
                  <a:pt x="1478329" y="291452"/>
                </a:lnTo>
                <a:cubicBezTo>
                  <a:pt x="1485315" y="292856"/>
                  <a:pt x="1490687" y="301538"/>
                  <a:pt x="1496312" y="310632"/>
                </a:cubicBezTo>
                <a:cubicBezTo>
                  <a:pt x="1503131" y="321658"/>
                  <a:pt x="1510324" y="333290"/>
                  <a:pt x="1521223" y="333290"/>
                </a:cubicBezTo>
                <a:cubicBezTo>
                  <a:pt x="1522624" y="333290"/>
                  <a:pt x="1524030" y="332932"/>
                  <a:pt x="1525638" y="332522"/>
                </a:cubicBezTo>
                <a:cubicBezTo>
                  <a:pt x="1525915" y="332452"/>
                  <a:pt x="1526192" y="332380"/>
                  <a:pt x="1526480" y="332309"/>
                </a:cubicBezTo>
                <a:lnTo>
                  <a:pt x="1526480" y="351266"/>
                </a:lnTo>
                <a:cubicBezTo>
                  <a:pt x="1523194" y="352084"/>
                  <a:pt x="1519909" y="352737"/>
                  <a:pt x="1516785" y="352737"/>
                </a:cubicBezTo>
                <a:cubicBezTo>
                  <a:pt x="1498012" y="352737"/>
                  <a:pt x="1487096" y="334860"/>
                  <a:pt x="1478145" y="320207"/>
                </a:cubicBezTo>
                <a:cubicBezTo>
                  <a:pt x="1472052" y="310232"/>
                  <a:pt x="1466871" y="301752"/>
                  <a:pt x="1460750" y="301421"/>
                </a:cubicBezTo>
                <a:lnTo>
                  <a:pt x="1451384" y="301421"/>
                </a:lnTo>
                <a:lnTo>
                  <a:pt x="1451384" y="351266"/>
                </a:lnTo>
                <a:lnTo>
                  <a:pt x="1431003" y="351266"/>
                </a:lnTo>
                <a:lnTo>
                  <a:pt x="1431003" y="236868"/>
                </a:lnTo>
                <a:close/>
                <a:moveTo>
                  <a:pt x="1558866" y="236868"/>
                </a:moveTo>
                <a:lnTo>
                  <a:pt x="1538486" y="236868"/>
                </a:lnTo>
                <a:lnTo>
                  <a:pt x="1538486" y="351266"/>
                </a:lnTo>
                <a:lnTo>
                  <a:pt x="1555581" y="351266"/>
                </a:lnTo>
                <a:lnTo>
                  <a:pt x="1615230" y="272495"/>
                </a:lnTo>
                <a:lnTo>
                  <a:pt x="1615230" y="351266"/>
                </a:lnTo>
                <a:lnTo>
                  <a:pt x="1635611" y="351266"/>
                </a:lnTo>
                <a:lnTo>
                  <a:pt x="1635611" y="236868"/>
                </a:lnTo>
                <a:lnTo>
                  <a:pt x="1618516" y="236868"/>
                </a:lnTo>
                <a:lnTo>
                  <a:pt x="1558866" y="315803"/>
                </a:lnTo>
                <a:lnTo>
                  <a:pt x="1558866" y="236868"/>
                </a:lnTo>
                <a:close/>
              </a:path>
            </a:pathLst>
          </a:custGeom>
          <a:solidFill>
            <a:srgbClr val="102D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" name="Google Shape;17;p17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8219440" y="459740"/>
            <a:ext cx="1153478" cy="22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7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515938" y="6184900"/>
            <a:ext cx="1294159" cy="37207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 bwMode="auto">
          <a:xfrm>
            <a:off x="515938" y="1636395"/>
            <a:ext cx="7586662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Unbounded"/>
              <a:buNone/>
              <a:defRPr sz="4400">
                <a:latin typeface="Unbounded"/>
                <a:ea typeface="Unbounded"/>
                <a:cs typeface="Unbound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и подпись " userDrawn="1">
  <p:cSld name="рисунок и подпись 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>
            <a:spLocks noGrp="1"/>
          </p:cNvSpPr>
          <p:nvPr>
            <p:ph type="pic" idx="2"/>
          </p:nvPr>
        </p:nvSpPr>
        <p:spPr bwMode="auto">
          <a:xfrm>
            <a:off x="7016433" y="1366510"/>
            <a:ext cx="4696142" cy="440638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 bwMode="auto">
          <a:xfrm>
            <a:off x="1526863" y="2379663"/>
            <a:ext cx="4892565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i="0">
                <a:solidFill>
                  <a:srgbClr val="0E2D69"/>
                </a:solidFill>
                <a:latin typeface="Onest"/>
                <a:ea typeface="Onest"/>
                <a:cs typeface="Onest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23" name="Google Shape;23;p18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32875" y="6027771"/>
            <a:ext cx="461929" cy="46192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8"/>
          <p:cNvSpPr txBox="1">
            <a:spLocks noGrp="1"/>
          </p:cNvSpPr>
          <p:nvPr>
            <p:ph type="body" idx="3"/>
          </p:nvPr>
        </p:nvSpPr>
        <p:spPr bwMode="auto">
          <a:xfrm>
            <a:off x="532875" y="1447790"/>
            <a:ext cx="4892675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nest"/>
              <a:buNone/>
              <a:defRPr sz="2400">
                <a:latin typeface="Onest"/>
                <a:ea typeface="Onest"/>
                <a:cs typeface="Ones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еречень люди + подпись" userDrawn="1">
  <p:cSld name="перечень люди + подпись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body" idx="1"/>
          </p:nvPr>
        </p:nvSpPr>
        <p:spPr bwMode="auto">
          <a:xfrm>
            <a:off x="6820010" y="2379663"/>
            <a:ext cx="4892565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  <a:defRPr sz="14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2"/>
          </p:nvPr>
        </p:nvSpPr>
        <p:spPr bwMode="auto">
          <a:xfrm>
            <a:off x="5643142" y="1447790"/>
            <a:ext cx="4892675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" name="Google Shape;28;p19"/>
          <p:cNvSpPr>
            <a:spLocks noGrp="1"/>
          </p:cNvSpPr>
          <p:nvPr>
            <p:ph type="pic" idx="3"/>
          </p:nvPr>
        </p:nvSpPr>
        <p:spPr bwMode="auto">
          <a:xfrm>
            <a:off x="515938" y="1026478"/>
            <a:ext cx="1473200" cy="14732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19"/>
          <p:cNvSpPr txBox="1">
            <a:spLocks noGrp="1"/>
          </p:cNvSpPr>
          <p:nvPr>
            <p:ph type="body" idx="4"/>
          </p:nvPr>
        </p:nvSpPr>
        <p:spPr bwMode="auto">
          <a:xfrm>
            <a:off x="2212659" y="1433069"/>
            <a:ext cx="2440622" cy="66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i="0">
                <a:solidFill>
                  <a:srgbClr val="0E2D69"/>
                </a:solidFill>
                <a:latin typeface="Onest"/>
                <a:ea typeface="Onest"/>
                <a:cs typeface="Onest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19"/>
          <p:cNvSpPr>
            <a:spLocks noGrp="1"/>
          </p:cNvSpPr>
          <p:nvPr>
            <p:ph type="pic" idx="5"/>
          </p:nvPr>
        </p:nvSpPr>
        <p:spPr bwMode="auto">
          <a:xfrm>
            <a:off x="532875" y="2854633"/>
            <a:ext cx="1473200" cy="14732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19"/>
          <p:cNvSpPr txBox="1">
            <a:spLocks noGrp="1"/>
          </p:cNvSpPr>
          <p:nvPr>
            <p:ph type="body" idx="6"/>
          </p:nvPr>
        </p:nvSpPr>
        <p:spPr bwMode="auto">
          <a:xfrm>
            <a:off x="2229596" y="3261223"/>
            <a:ext cx="2440622" cy="66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i="0">
                <a:solidFill>
                  <a:srgbClr val="0E2D69"/>
                </a:solidFill>
                <a:latin typeface="Onest"/>
                <a:ea typeface="Onest"/>
                <a:cs typeface="Onest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19"/>
          <p:cNvSpPr>
            <a:spLocks noGrp="1"/>
          </p:cNvSpPr>
          <p:nvPr>
            <p:ph type="pic" idx="7"/>
          </p:nvPr>
        </p:nvSpPr>
        <p:spPr bwMode="auto">
          <a:xfrm>
            <a:off x="515938" y="4682788"/>
            <a:ext cx="1473200" cy="14732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9"/>
          <p:cNvSpPr txBox="1">
            <a:spLocks noGrp="1"/>
          </p:cNvSpPr>
          <p:nvPr>
            <p:ph type="body" idx="8"/>
          </p:nvPr>
        </p:nvSpPr>
        <p:spPr bwMode="auto">
          <a:xfrm>
            <a:off x="2212659" y="5089379"/>
            <a:ext cx="2440622" cy="66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i="0">
                <a:solidFill>
                  <a:srgbClr val="0E2D69"/>
                </a:solidFill>
                <a:latin typeface="Onest"/>
                <a:ea typeface="Onest"/>
                <a:cs typeface="Onest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34" name="Google Shape;34;p19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32875" y="358140"/>
            <a:ext cx="461929" cy="461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человек + подпись " userDrawn="1">
  <p:cSld name="человек + подпись 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>
            <a:spLocks noGrp="1"/>
          </p:cNvSpPr>
          <p:nvPr>
            <p:ph type="pic" idx="2"/>
          </p:nvPr>
        </p:nvSpPr>
        <p:spPr bwMode="auto">
          <a:xfrm>
            <a:off x="6948884" y="1203889"/>
            <a:ext cx="4710241" cy="4823882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0"/>
          <p:cNvSpPr txBox="1">
            <a:spLocks noGrp="1"/>
          </p:cNvSpPr>
          <p:nvPr>
            <p:ph type="body" idx="1"/>
          </p:nvPr>
        </p:nvSpPr>
        <p:spPr bwMode="auto">
          <a:xfrm>
            <a:off x="532875" y="2394223"/>
            <a:ext cx="4892565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i="0">
                <a:solidFill>
                  <a:srgbClr val="0E2D69"/>
                </a:solidFill>
                <a:latin typeface="Onest"/>
                <a:ea typeface="Onest"/>
                <a:cs typeface="Onest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38" name="Google Shape;38;p20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10205194" y="985861"/>
            <a:ext cx="461929" cy="46192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0"/>
          <p:cNvSpPr txBox="1">
            <a:spLocks noGrp="1"/>
          </p:cNvSpPr>
          <p:nvPr>
            <p:ph type="body" idx="3"/>
          </p:nvPr>
        </p:nvSpPr>
        <p:spPr bwMode="auto">
          <a:xfrm>
            <a:off x="1152635" y="1447790"/>
            <a:ext cx="5471685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цитата" userDrawn="1">
  <p:cSld name="цитата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>
            <a:spLocks noGrp="1"/>
          </p:cNvSpPr>
          <p:nvPr>
            <p:ph type="pic" idx="2"/>
          </p:nvPr>
        </p:nvSpPr>
        <p:spPr bwMode="auto">
          <a:xfrm>
            <a:off x="661750" y="745314"/>
            <a:ext cx="5271690" cy="536737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 bwMode="auto">
          <a:xfrm>
            <a:off x="8687545" y="2936221"/>
            <a:ext cx="3025029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2400"/>
              <a:buNone/>
              <a:defRPr sz="2400" i="0">
                <a:solidFill>
                  <a:srgbClr val="0E2D69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3"/>
          </p:nvPr>
        </p:nvSpPr>
        <p:spPr bwMode="auto">
          <a:xfrm>
            <a:off x="5520524" y="1165846"/>
            <a:ext cx="5752996" cy="1457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екст" userDrawn="1">
  <p:cSld name="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 bwMode="auto">
          <a:xfrm>
            <a:off x="515939" y="1180731"/>
            <a:ext cx="11196637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 bwMode="auto">
          <a:xfrm>
            <a:off x="515939" y="2133600"/>
            <a:ext cx="11196637" cy="42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None/>
              <a:defRPr sz="1400">
                <a:latin typeface="Onest"/>
                <a:ea typeface="Onest"/>
                <a:cs typeface="Ones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47" name="Google Shape;47;p22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15939" y="368300"/>
            <a:ext cx="461929" cy="461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иаграмма" userDrawn="1">
  <p:cSld name="диаграмма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>
            <a:spLocks noGrp="1"/>
          </p:cNvSpPr>
          <p:nvPr>
            <p:ph type="chart" idx="2"/>
          </p:nvPr>
        </p:nvSpPr>
        <p:spPr bwMode="auto">
          <a:xfrm>
            <a:off x="5272096" y="1117600"/>
            <a:ext cx="6440477" cy="4619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 dirty="0"/>
          </a:p>
        </p:txBody>
      </p:sp>
      <p:sp>
        <p:nvSpPr>
          <p:cNvPr id="50" name="Google Shape;50;p23"/>
          <p:cNvSpPr txBox="1">
            <a:spLocks noGrp="1"/>
          </p:cNvSpPr>
          <p:nvPr>
            <p:ph type="body" idx="1"/>
          </p:nvPr>
        </p:nvSpPr>
        <p:spPr bwMode="auto">
          <a:xfrm>
            <a:off x="585898" y="2377440"/>
            <a:ext cx="4322531" cy="2401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  <a:defRPr sz="14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body" idx="3"/>
          </p:nvPr>
        </p:nvSpPr>
        <p:spPr bwMode="auto">
          <a:xfrm>
            <a:off x="515938" y="5049837"/>
            <a:ext cx="4392612" cy="68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52" name="Google Shape;52;p23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15938" y="368300"/>
            <a:ext cx="461929" cy="46192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3"/>
          <p:cNvSpPr txBox="1">
            <a:spLocks noGrp="1"/>
          </p:cNvSpPr>
          <p:nvPr>
            <p:ph type="body" idx="4"/>
          </p:nvPr>
        </p:nvSpPr>
        <p:spPr bwMode="auto">
          <a:xfrm>
            <a:off x="515938" y="1117600"/>
            <a:ext cx="4392491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большие данные " userDrawn="1">
  <p:cSld name="большие данные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body" idx="1"/>
          </p:nvPr>
        </p:nvSpPr>
        <p:spPr bwMode="auto">
          <a:xfrm>
            <a:off x="2590800" y="1270000"/>
            <a:ext cx="9121774" cy="96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2"/>
          </p:nvPr>
        </p:nvSpPr>
        <p:spPr bwMode="auto">
          <a:xfrm>
            <a:off x="532874" y="2763358"/>
            <a:ext cx="3327926" cy="105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Unbounded"/>
              <a:buNone/>
              <a:defRPr sz="8800">
                <a:latin typeface="Unbounded"/>
                <a:ea typeface="Unbounded"/>
                <a:cs typeface="Unbound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3"/>
          </p:nvPr>
        </p:nvSpPr>
        <p:spPr bwMode="auto">
          <a:xfrm>
            <a:off x="4236720" y="2763358"/>
            <a:ext cx="3327926" cy="105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Unbounded"/>
              <a:buNone/>
              <a:defRPr sz="8800">
                <a:latin typeface="Unbounded"/>
                <a:ea typeface="Unbounded"/>
                <a:cs typeface="Unbound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body" idx="4"/>
          </p:nvPr>
        </p:nvSpPr>
        <p:spPr bwMode="auto">
          <a:xfrm>
            <a:off x="7940566" y="2773356"/>
            <a:ext cx="3327926" cy="105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Unbounded"/>
              <a:buNone/>
              <a:defRPr sz="8800">
                <a:latin typeface="Unbounded"/>
                <a:ea typeface="Unbounded"/>
                <a:cs typeface="Unbound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body" idx="5"/>
          </p:nvPr>
        </p:nvSpPr>
        <p:spPr bwMode="auto">
          <a:xfrm>
            <a:off x="515938" y="4349395"/>
            <a:ext cx="3344862" cy="147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latin typeface="Arial"/>
                <a:ea typeface="Arial"/>
                <a:cs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6"/>
          </p:nvPr>
        </p:nvSpPr>
        <p:spPr bwMode="auto">
          <a:xfrm>
            <a:off x="4219784" y="4349394"/>
            <a:ext cx="3344862" cy="147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latin typeface="Arial"/>
                <a:ea typeface="Arial"/>
                <a:cs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7"/>
          </p:nvPr>
        </p:nvSpPr>
        <p:spPr bwMode="auto">
          <a:xfrm>
            <a:off x="7940566" y="4349393"/>
            <a:ext cx="3344862" cy="147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latin typeface="Arial"/>
                <a:ea typeface="Arial"/>
                <a:cs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аблица 1" userDrawn="1">
  <p:cSld name="таблица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 bwMode="auto">
          <a:xfrm>
            <a:off x="8557533" y="2208362"/>
            <a:ext cx="3155041" cy="329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None/>
              <a:defRPr sz="1400" i="0">
                <a:solidFill>
                  <a:srgbClr val="0E2D69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 bwMode="auto">
          <a:xfrm>
            <a:off x="515938" y="1239838"/>
            <a:ext cx="7688262" cy="733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аблица 2" userDrawn="1">
  <p:cSld name="таблица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body" idx="1"/>
          </p:nvPr>
        </p:nvSpPr>
        <p:spPr bwMode="auto">
          <a:xfrm>
            <a:off x="515937" y="1336082"/>
            <a:ext cx="11196637" cy="733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67" name="Google Shape;67;p26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32875" y="6027771"/>
            <a:ext cx="461929" cy="461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оследний слайд " userDrawn="1">
  <p:cSld name="последний слайд 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" name="Google Shape;70;p2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3240571" y="2870676"/>
            <a:ext cx="5710857" cy="1116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Google Shape;10;p15"/>
          <p:cNvPicPr/>
          <p:nvPr/>
        </p:nvPicPr>
        <p:blipFill>
          <a:blip r:embed="rId13">
            <a:alphaModFix/>
          </a:blip>
          <a:stretch/>
        </p:blipFill>
        <p:spPr bwMode="auto">
          <a:xfrm>
            <a:off x="11269979" y="6041431"/>
            <a:ext cx="442595" cy="44826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5"/>
          <p:cNvSpPr txBox="1">
            <a:spLocks noGrp="1"/>
          </p:cNvSpPr>
          <p:nvPr>
            <p:ph type="title"/>
          </p:nvPr>
        </p:nvSpPr>
        <p:spPr bwMode="auto">
          <a:xfrm>
            <a:off x="515939" y="979010"/>
            <a:ext cx="111966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Unbounded"/>
              <a:buNone/>
              <a:defRPr sz="4400" b="0" i="0" u="none" strike="noStrike" cap="none">
                <a:solidFill>
                  <a:schemeClr val="dk1"/>
                </a:solidFill>
                <a:latin typeface="Unbounded"/>
                <a:ea typeface="Unbounded"/>
                <a:cs typeface="Unbounde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body" idx="1"/>
          </p:nvPr>
        </p:nvSpPr>
        <p:spPr bwMode="auto">
          <a:xfrm>
            <a:off x="515938" y="2550159"/>
            <a:ext cx="11196636" cy="393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46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Unbounded"/>
              <a:buChar char="•"/>
              <a:defRPr sz="2300" b="0" i="0" u="none" strike="noStrike" cap="none">
                <a:solidFill>
                  <a:schemeClr val="dk1"/>
                </a:solidFill>
                <a:latin typeface="Unbounded"/>
                <a:ea typeface="Unbounded"/>
                <a:cs typeface="Unbounded"/>
              </a:defRPr>
            </a:lvl1pPr>
            <a:lvl2pPr marL="914400" marR="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nest"/>
              <a:buChar char="•"/>
              <a:defRPr sz="20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•"/>
              <a:defRPr sz="14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4pPr>
            <a:lvl5pPr marL="2286000" marR="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•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ctrTitle"/>
          </p:nvPr>
        </p:nvSpPr>
        <p:spPr bwMode="auto">
          <a:xfrm>
            <a:off x="4573110" y="3745230"/>
            <a:ext cx="617728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dirty="0" err="1"/>
              <a:t>Станишевский</a:t>
            </a:r>
            <a:r>
              <a:rPr lang="ru-RU" dirty="0"/>
              <a:t> Игорь</a:t>
            </a:r>
            <a:endParaRPr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 bwMode="auto">
          <a:xfrm>
            <a:off x="456670" y="745067"/>
            <a:ext cx="9711795" cy="236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rtl="0"/>
            <a:r>
              <a:rPr lang="ru-RU" b="1" dirty="0"/>
              <a:t>Разработка сервиса автоматической </a:t>
            </a:r>
            <a:r>
              <a:rPr lang="ru-RU" b="1" dirty="0" err="1"/>
              <a:t>транскрибации</a:t>
            </a:r>
            <a:r>
              <a:rPr lang="ru-RU" b="1" dirty="0"/>
              <a:t> и семантического поиска по записям встреч на основе RAG-архитектуры</a:t>
            </a:r>
          </a:p>
          <a:p>
            <a:pPr rtl="0"/>
            <a:r>
              <a:rPr lang="en-US" b="1" dirty="0"/>
              <a:t>Development Of A Service For Automatic Transcription And Semantic Search Of Meeting Recordings Based On RAG Architecture</a:t>
            </a:r>
            <a:endParaRPr lang="ru-RU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body" idx="1"/>
          </p:nvPr>
        </p:nvSpPr>
        <p:spPr bwMode="auto">
          <a:xfrm>
            <a:off x="656913" y="1857638"/>
            <a:ext cx="48927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defRPr/>
            </a:pPr>
            <a:r>
              <a:rPr lang="ru-RU" sz="2000" dirty="0"/>
              <a:t>Какие технологии и методы позволяют эффективно обрабатывать аудиозаписи рабочих встреч и реализовать систему семантического поиска, которая обеспечивает пользователям быстрый доступ к нужной информации?</a:t>
            </a:r>
          </a:p>
        </p:txBody>
      </p:sp>
      <p:sp>
        <p:nvSpPr>
          <p:cNvPr id="83" name="Google Shape;83;p3"/>
          <p:cNvSpPr txBox="1"/>
          <p:nvPr/>
        </p:nvSpPr>
        <p:spPr bwMode="auto">
          <a:xfrm>
            <a:off x="590599" y="971424"/>
            <a:ext cx="10634759" cy="5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400" b="1">
                <a:solidFill>
                  <a:schemeClr val="dk1"/>
                </a:solidFill>
                <a:latin typeface="Unbounded"/>
                <a:ea typeface="Unbounded"/>
                <a:cs typeface="Unbounded"/>
              </a:rPr>
              <a:t>Исследовательский вопрос</a:t>
            </a:r>
            <a:endParaRPr sz="2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g38c77f70026_0_8"/>
          <p:cNvSpPr txBox="1">
            <a:spLocks noGrp="1"/>
          </p:cNvSpPr>
          <p:nvPr>
            <p:ph type="body" idx="1"/>
          </p:nvPr>
        </p:nvSpPr>
        <p:spPr bwMode="auto">
          <a:xfrm>
            <a:off x="656924" y="1640150"/>
            <a:ext cx="9190800" cy="790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 lnSpcReduction="10000"/>
          </a:bodyPr>
          <a:lstStyle/>
          <a:p>
            <a:pPr marL="0" lvl="0" indent="0" algn="just">
              <a:spcBef>
                <a:spcPts val="0"/>
              </a:spcBef>
              <a:defRPr/>
            </a:pPr>
            <a:r>
              <a:rPr lang="ru-RU" sz="1800" dirty="0"/>
              <a:t>Аудиозаписи рабочих совещаний</a:t>
            </a:r>
            <a:r>
              <a:rPr lang="en-US" sz="1800" dirty="0"/>
              <a:t>;</a:t>
            </a:r>
          </a:p>
          <a:p>
            <a:pPr marL="0" lvl="0" indent="0" algn="just">
              <a:spcBef>
                <a:spcPts val="0"/>
              </a:spcBef>
              <a:defRPr/>
            </a:pPr>
            <a:r>
              <a:rPr lang="ru-RU" sz="1800" dirty="0"/>
              <a:t>Процессы обработки аудиозаписей и текстовых данных</a:t>
            </a:r>
            <a:r>
              <a:rPr lang="en-US" sz="1800" dirty="0"/>
              <a:t>;</a:t>
            </a:r>
            <a:endParaRPr lang="ru-RU" sz="1800" dirty="0"/>
          </a:p>
          <a:p>
            <a:pPr marL="0" lvl="0" indent="0" algn="just">
              <a:spcBef>
                <a:spcPts val="0"/>
              </a:spcBef>
              <a:defRPr/>
            </a:pPr>
            <a:r>
              <a:rPr lang="ru-RU" sz="1800" dirty="0"/>
              <a:t>Архитектура </a:t>
            </a:r>
            <a:r>
              <a:rPr lang="en-US" sz="1800" dirty="0"/>
              <a:t>RAG </a:t>
            </a:r>
            <a:r>
              <a:rPr lang="ru-RU" sz="1800" dirty="0"/>
              <a:t>системы, ее параметры и настройка</a:t>
            </a:r>
          </a:p>
          <a:p>
            <a:pPr marL="0" lvl="0" indent="0" algn="just">
              <a:spcBef>
                <a:spcPts val="0"/>
              </a:spcBef>
              <a:defRPr/>
            </a:pPr>
            <a:endParaRPr sz="1800" dirty="0"/>
          </a:p>
        </p:txBody>
      </p:sp>
      <p:sp>
        <p:nvSpPr>
          <p:cNvPr id="89" name="Google Shape;89;g38c77f70026_0_8"/>
          <p:cNvSpPr txBox="1"/>
          <p:nvPr/>
        </p:nvSpPr>
        <p:spPr bwMode="auto">
          <a:xfrm>
            <a:off x="590599" y="971424"/>
            <a:ext cx="10634759" cy="5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400" b="1">
                <a:solidFill>
                  <a:schemeClr val="dk1"/>
                </a:solidFill>
                <a:latin typeface="Unbounded"/>
                <a:ea typeface="Unbounded"/>
                <a:cs typeface="Unbounded"/>
              </a:rPr>
              <a:t>Объект исследования</a:t>
            </a:r>
            <a:endParaRPr sz="2400" b="1"/>
          </a:p>
        </p:txBody>
      </p:sp>
      <p:sp>
        <p:nvSpPr>
          <p:cNvPr id="90" name="Google Shape;90;g38c77f70026_0_8"/>
          <p:cNvSpPr txBox="1"/>
          <p:nvPr/>
        </p:nvSpPr>
        <p:spPr bwMode="auto">
          <a:xfrm>
            <a:off x="590599" y="3170399"/>
            <a:ext cx="10634759" cy="5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400" b="1" dirty="0">
                <a:solidFill>
                  <a:schemeClr val="dk1"/>
                </a:solidFill>
                <a:latin typeface="Unbounded"/>
                <a:ea typeface="Unbounded"/>
                <a:cs typeface="Unbounded"/>
              </a:rPr>
              <a:t>Предмет исследования</a:t>
            </a:r>
            <a:endParaRPr sz="2400" b="1" dirty="0"/>
          </a:p>
        </p:txBody>
      </p:sp>
      <p:sp>
        <p:nvSpPr>
          <p:cNvPr id="91" name="Google Shape;91;g38c77f70026_0_8"/>
          <p:cNvSpPr txBox="1">
            <a:spLocks noGrp="1"/>
          </p:cNvSpPr>
          <p:nvPr>
            <p:ph type="body" idx="1"/>
          </p:nvPr>
        </p:nvSpPr>
        <p:spPr bwMode="auto">
          <a:xfrm>
            <a:off x="656923" y="3967399"/>
            <a:ext cx="9878131" cy="790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defRPr/>
            </a:pPr>
            <a:r>
              <a:rPr lang="ru-RU" sz="1800" dirty="0"/>
              <a:t>Методы и технологии </a:t>
            </a:r>
            <a:r>
              <a:rPr lang="ru-RU" sz="1800" dirty="0" err="1"/>
              <a:t>транскрибации</a:t>
            </a:r>
            <a:r>
              <a:rPr lang="ru-RU" sz="1800" dirty="0"/>
              <a:t> аудиозаписей</a:t>
            </a:r>
            <a:r>
              <a:rPr lang="en-US" sz="1800" dirty="0"/>
              <a:t>;</a:t>
            </a:r>
          </a:p>
          <a:p>
            <a:pPr marL="0" lvl="0" indent="0" algn="just">
              <a:spcBef>
                <a:spcPts val="0"/>
              </a:spcBef>
              <a:defRPr/>
            </a:pPr>
            <a:r>
              <a:rPr lang="ru-RU" sz="1800" dirty="0"/>
              <a:t>Алгоритмы и инструменты </a:t>
            </a:r>
            <a:r>
              <a:rPr lang="ru-RU" sz="1800" dirty="0" err="1"/>
              <a:t>струткуризации</a:t>
            </a:r>
            <a:r>
              <a:rPr lang="ru-RU" sz="1800" dirty="0"/>
              <a:t>, нормализации и обработки текстовых данных</a:t>
            </a:r>
            <a:r>
              <a:rPr lang="en-US" sz="1800" dirty="0"/>
              <a:t>;</a:t>
            </a:r>
            <a:endParaRPr lang="ru-RU" sz="1800" dirty="0"/>
          </a:p>
          <a:p>
            <a:pPr marL="0" lvl="0" indent="0" algn="just">
              <a:spcBef>
                <a:spcPts val="0"/>
              </a:spcBef>
              <a:defRPr/>
            </a:pPr>
            <a:r>
              <a:rPr lang="ru-RU" sz="1800" dirty="0"/>
              <a:t>Архитектура и компоненты </a:t>
            </a:r>
            <a:r>
              <a:rPr lang="en-US" sz="1800" dirty="0"/>
              <a:t>RAG</a:t>
            </a:r>
            <a:r>
              <a:rPr lang="ru-RU" sz="1800" dirty="0"/>
              <a:t>-системы</a:t>
            </a:r>
            <a:r>
              <a:rPr lang="en-US" sz="1800" dirty="0"/>
              <a:t>;</a:t>
            </a:r>
            <a:endParaRPr lang="ru-RU" sz="1800" dirty="0"/>
          </a:p>
          <a:p>
            <a:pPr marL="0" lvl="0" indent="0" algn="just">
              <a:spcBef>
                <a:spcPts val="0"/>
              </a:spcBef>
              <a:defRPr/>
            </a:pPr>
            <a:r>
              <a:rPr lang="ru-RU" sz="1800" dirty="0"/>
              <a:t>Критерии оценки эффективности информационного поиска.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" name="Google Shape;96;g38c77f70026_0_13"/>
          <p:cNvSpPr txBox="1">
            <a:spLocks noGrp="1"/>
          </p:cNvSpPr>
          <p:nvPr>
            <p:ph type="body" idx="1"/>
          </p:nvPr>
        </p:nvSpPr>
        <p:spPr bwMode="auto">
          <a:xfrm>
            <a:off x="656924" y="1712650"/>
            <a:ext cx="71028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defRPr/>
            </a:pPr>
            <a:r>
              <a:rPr lang="ru-RU" sz="1800" dirty="0"/>
              <a:t>Спроектировать и разработать прототип сервиса, который позволяет загрузить данные о рабочей встрече в формате аудио и выполнить семантический поиск по ним с помощью технологии </a:t>
            </a:r>
            <a:r>
              <a:rPr lang="en-US" sz="1800" dirty="0"/>
              <a:t>Retrieval-Augmented Generation </a:t>
            </a:r>
            <a:r>
              <a:rPr lang="ru-RU" sz="1800" dirty="0"/>
              <a:t>(</a:t>
            </a:r>
            <a:r>
              <a:rPr lang="en-US" sz="1800" dirty="0"/>
              <a:t>RAG</a:t>
            </a:r>
            <a:r>
              <a:rPr lang="ru-RU" sz="1800" dirty="0"/>
              <a:t>).</a:t>
            </a:r>
            <a:endParaRPr sz="1800" dirty="0"/>
          </a:p>
        </p:txBody>
      </p:sp>
      <p:sp>
        <p:nvSpPr>
          <p:cNvPr id="97" name="Google Shape;97;g38c77f70026_0_13"/>
          <p:cNvSpPr txBox="1"/>
          <p:nvPr/>
        </p:nvSpPr>
        <p:spPr bwMode="auto">
          <a:xfrm>
            <a:off x="590599" y="971424"/>
            <a:ext cx="10634759" cy="5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400" b="1">
                <a:solidFill>
                  <a:schemeClr val="dk1"/>
                </a:solidFill>
                <a:latin typeface="Unbounded"/>
                <a:ea typeface="Unbounded"/>
                <a:cs typeface="Unbounded"/>
              </a:rPr>
              <a:t>Цель исследования</a:t>
            </a:r>
            <a:endParaRPr sz="2400" b="1"/>
          </a:p>
        </p:txBody>
      </p:sp>
      <p:sp>
        <p:nvSpPr>
          <p:cNvPr id="98" name="Google Shape;98;g38c77f70026_0_13"/>
          <p:cNvSpPr txBox="1"/>
          <p:nvPr/>
        </p:nvSpPr>
        <p:spPr bwMode="auto">
          <a:xfrm>
            <a:off x="656924" y="3052174"/>
            <a:ext cx="10634759" cy="5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400" b="1">
                <a:solidFill>
                  <a:schemeClr val="dk1"/>
                </a:solidFill>
                <a:latin typeface="Unbounded"/>
                <a:ea typeface="Unbounded"/>
                <a:cs typeface="Unbounded"/>
              </a:rPr>
              <a:t>Задачи исследования</a:t>
            </a:r>
            <a:endParaRPr sz="2400" b="1"/>
          </a:p>
        </p:txBody>
      </p:sp>
      <p:sp>
        <p:nvSpPr>
          <p:cNvPr id="99" name="Google Shape;99;g38c77f70026_0_13"/>
          <p:cNvSpPr txBox="1">
            <a:spLocks noGrp="1"/>
          </p:cNvSpPr>
          <p:nvPr>
            <p:ph type="body" idx="1"/>
          </p:nvPr>
        </p:nvSpPr>
        <p:spPr bwMode="auto">
          <a:xfrm>
            <a:off x="656924" y="3778900"/>
            <a:ext cx="7102800" cy="17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 lvl="0" indent="-317500" algn="just">
              <a:spcBef>
                <a:spcPts val="0"/>
              </a:spcBef>
              <a:buChar char="●"/>
              <a:defRPr/>
            </a:pPr>
            <a:r>
              <a:rPr lang="ru-RU" sz="1600" dirty="0"/>
              <a:t>Изучить существующие методы автоматической транскрипции речи и семантического поиска</a:t>
            </a:r>
            <a:r>
              <a:rPr lang="en-US" sz="1600" dirty="0"/>
              <a:t>;</a:t>
            </a:r>
            <a:endParaRPr lang="ru-RU" sz="1600" dirty="0"/>
          </a:p>
          <a:p>
            <a:pPr indent="-317500" algn="just">
              <a:spcBef>
                <a:spcPts val="0"/>
              </a:spcBef>
              <a:buFont typeface="Onest"/>
              <a:buChar char="●"/>
              <a:defRPr/>
            </a:pPr>
            <a:r>
              <a:rPr lang="ru-RU" sz="1600" dirty="0"/>
              <a:t>Спроектировать общую архитектуру сервиса и </a:t>
            </a:r>
            <a:r>
              <a:rPr lang="en-US" sz="1600" dirty="0"/>
              <a:t>RAG-</a:t>
            </a:r>
            <a:r>
              <a:rPr lang="ru-RU" sz="1600" dirty="0"/>
              <a:t>системы;</a:t>
            </a:r>
          </a:p>
          <a:p>
            <a:pPr lvl="0" indent="-317500" algn="just">
              <a:spcBef>
                <a:spcPts val="0"/>
              </a:spcBef>
              <a:buChar char="●"/>
              <a:defRPr/>
            </a:pPr>
            <a:r>
              <a:rPr lang="ru-RU" sz="1600" dirty="0"/>
              <a:t>Провести анализ существующих инструментов и определить оптимальный стек технологий для разработки сервиса</a:t>
            </a:r>
            <a:r>
              <a:rPr lang="en-US" sz="1600" dirty="0"/>
              <a:t>;</a:t>
            </a:r>
            <a:endParaRPr sz="1600" dirty="0"/>
          </a:p>
          <a:p>
            <a:pPr lvl="0" indent="-317500" algn="just">
              <a:spcBef>
                <a:spcPts val="0"/>
              </a:spcBef>
              <a:buChar char="●"/>
              <a:defRPr/>
            </a:pPr>
            <a:r>
              <a:rPr lang="ru-RU" sz="1600" dirty="0"/>
              <a:t>Установить критерии и метрики, позволяющие объективно оценивать качество разработанного сервиса</a:t>
            </a:r>
            <a:r>
              <a:rPr lang="en-US" sz="1600" dirty="0"/>
              <a:t>;</a:t>
            </a:r>
            <a:endParaRPr lang="ru-RU" sz="1600" dirty="0"/>
          </a:p>
          <a:p>
            <a:pPr lvl="0" indent="-317500" algn="just">
              <a:spcBef>
                <a:spcPts val="0"/>
              </a:spcBef>
              <a:buChar char="●"/>
              <a:defRPr/>
            </a:pPr>
            <a:r>
              <a:rPr lang="ru-RU" sz="1600" dirty="0"/>
              <a:t>Описать ограничения и направления дальнейшего развития сервиса.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body" idx="2"/>
          </p:nvPr>
        </p:nvSpPr>
        <p:spPr bwMode="auto">
          <a:xfrm>
            <a:off x="771517" y="682640"/>
            <a:ext cx="48927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ru-RU" b="1" dirty="0"/>
              <a:t>Обзор источников</a:t>
            </a:r>
            <a:endParaRPr b="1" dirty="0"/>
          </a:p>
        </p:txBody>
      </p:sp>
      <p:graphicFrame>
        <p:nvGraphicFramePr>
          <p:cNvPr id="105" name="Google Shape;105;p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178351"/>
              </p:ext>
            </p:extLst>
          </p:nvPr>
        </p:nvGraphicFramePr>
        <p:xfrm>
          <a:off x="771517" y="1076390"/>
          <a:ext cx="10794670" cy="5212140"/>
        </p:xfrm>
        <a:graphic>
          <a:graphicData uri="http://schemas.openxmlformats.org/drawingml/2006/table">
            <a:tbl>
              <a:tblPr firstRow="1" bandRow="1">
                <a:tableStyleId>{9193F9F8-B168-44EE-94C5-3476742ABDB6}</a:tableStyleId>
              </a:tblPr>
              <a:tblGrid>
                <a:gridCol w="5397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u="none" strike="noStrike" cap="none" dirty="0"/>
                        <a:t>https://huggingface.co/ai-sage/GigaAM-v3</a:t>
                      </a:r>
                      <a:endParaRPr sz="1800" b="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ru-RU" sz="1800" b="0" u="none" strike="noStrike" cap="none" dirty="0"/>
                        <a:t>Документация на сайте </a:t>
                      </a:r>
                      <a:r>
                        <a:rPr lang="en-US" sz="1800" b="0" u="none" strike="noStrike" cap="none" dirty="0" err="1"/>
                        <a:t>Hugginface</a:t>
                      </a:r>
                      <a:r>
                        <a:rPr lang="en-US" sz="1800" b="0" u="none" strike="noStrike" cap="none" dirty="0"/>
                        <a:t> </a:t>
                      </a:r>
                      <a:r>
                        <a:rPr lang="ru-RU" sz="1800" b="0" u="none" strike="noStrike" cap="none" dirty="0"/>
                        <a:t>как работать с моделью для </a:t>
                      </a:r>
                      <a:r>
                        <a:rPr lang="ru-RU" sz="1800" b="0" u="none" strike="noStrike" cap="none" dirty="0" err="1"/>
                        <a:t>транскрибацией</a:t>
                      </a:r>
                      <a:endParaRPr sz="1800" b="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77352625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dirty="0"/>
                        <a:t>Radford et al. (2022/2023) </a:t>
                      </a:r>
                      <a:r>
                        <a:rPr lang="en-US" sz="1800" b="0" i="1" dirty="0"/>
                        <a:t>Robust Speech Recognition via Large-Scale Weak Supervision</a:t>
                      </a:r>
                      <a:endParaRPr sz="1800" b="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ru-RU" sz="1800" b="0" dirty="0"/>
                        <a:t>Рассматриваются подходы для работы с аудио данными, как их обрабатывать,</a:t>
                      </a:r>
                      <a:r>
                        <a:rPr lang="ru-RU" sz="1800" b="0" baseline="0" dirty="0"/>
                        <a:t> какие методы и модели</a:t>
                      </a:r>
                      <a:endParaRPr sz="1800" b="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ru-RU" sz="1800" b="0" dirty="0" err="1"/>
                        <a:t>Ротман</a:t>
                      </a:r>
                      <a:r>
                        <a:rPr lang="ru-RU" sz="1800" b="0" dirty="0"/>
                        <a:t> Д. </a:t>
                      </a:r>
                      <a:r>
                        <a:rPr lang="ru-RU" sz="1800" b="0" i="1" dirty="0"/>
                        <a:t>RAG и генеративный ИИ. Создаем собственные RAG-</a:t>
                      </a:r>
                      <a:r>
                        <a:rPr lang="ru-RU" sz="1800" b="0" i="1" dirty="0" err="1"/>
                        <a:t>пайплайны</a:t>
                      </a:r>
                      <a:r>
                        <a:rPr lang="ru-RU" sz="1800" b="0" i="1" dirty="0"/>
                        <a:t> с помощью </a:t>
                      </a:r>
                      <a:r>
                        <a:rPr lang="ru-RU" sz="1800" b="0" i="1" dirty="0" err="1"/>
                        <a:t>LlamaIndex</a:t>
                      </a:r>
                      <a:r>
                        <a:rPr lang="ru-RU" sz="1800" b="0" i="1" dirty="0"/>
                        <a:t>, </a:t>
                      </a:r>
                      <a:r>
                        <a:rPr lang="ru-RU" sz="1800" b="0" i="1" dirty="0" err="1"/>
                        <a:t>Deep</a:t>
                      </a:r>
                      <a:r>
                        <a:rPr lang="ru-RU" sz="1800" b="0" i="1" dirty="0"/>
                        <a:t> </a:t>
                      </a:r>
                      <a:r>
                        <a:rPr lang="ru-RU" sz="1800" b="0" i="1" dirty="0" err="1"/>
                        <a:t>Lake</a:t>
                      </a:r>
                      <a:r>
                        <a:rPr lang="ru-RU" sz="1800" b="0" i="1" dirty="0"/>
                        <a:t> и </a:t>
                      </a:r>
                      <a:r>
                        <a:rPr lang="ru-RU" sz="1800" b="0" i="1" dirty="0" err="1"/>
                        <a:t>Pinecone</a:t>
                      </a:r>
                      <a:r>
                        <a:rPr lang="ru-RU" sz="1800" b="0" i="1" dirty="0"/>
                        <a:t>.</a:t>
                      </a:r>
                      <a:r>
                        <a:rPr lang="ru-RU" sz="1800" b="0" dirty="0"/>
                        <a:t> — 320 с.</a:t>
                      </a:r>
                      <a:endParaRPr sz="1800" b="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ru-RU" sz="1800" u="none" strike="noStrike" cap="none" dirty="0"/>
                        <a:t>Практическое руководство по построению RAG-систем, где подробно разбираются ключевые инженерные решения: векторные хранилища, </a:t>
                      </a:r>
                      <a:r>
                        <a:rPr lang="ru-RU" sz="1800" u="none" strike="noStrike" cap="none" dirty="0" err="1"/>
                        <a:t>эмбеддинги</a:t>
                      </a:r>
                      <a:r>
                        <a:rPr lang="ru-RU" sz="1800" u="none" strike="noStrike" cap="none" dirty="0"/>
                        <a:t>, разбиение текста, индексация, ранжирование, а также сборка </a:t>
                      </a:r>
                      <a:r>
                        <a:rPr lang="ru-RU" sz="1800" u="none" strike="noStrike" cap="none" dirty="0" err="1"/>
                        <a:t>пайплайна</a:t>
                      </a:r>
                      <a:r>
                        <a:rPr lang="ru-RU" sz="1800" u="none" strike="noStrike" cap="none" dirty="0"/>
                        <a:t> на популярных инструментах</a:t>
                      </a:r>
                      <a:endParaRPr sz="18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dirty="0" err="1"/>
                        <a:t>Jurafsky</a:t>
                      </a:r>
                      <a:r>
                        <a:rPr lang="en-US" sz="1800" b="0" dirty="0"/>
                        <a:t> &amp; Martin (2025) </a:t>
                      </a:r>
                      <a:r>
                        <a:rPr lang="en-US" sz="1800" b="0" i="1" dirty="0"/>
                        <a:t>Speech and Language Processing (3rd ed., online manuscript)</a:t>
                      </a:r>
                      <a:endParaRPr sz="1800" b="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ru-RU" sz="1800" u="none" strike="noStrike" cap="none" dirty="0"/>
                        <a:t>Работа с </a:t>
                      </a:r>
                      <a:r>
                        <a:rPr lang="en-US" sz="1800" u="none" strike="noStrike" cap="none" dirty="0"/>
                        <a:t>NLP</a:t>
                      </a:r>
                      <a:r>
                        <a:rPr lang="en-US" sz="1800" u="none" strike="noStrike" cap="none" baseline="0" dirty="0"/>
                        <a:t> </a:t>
                      </a:r>
                      <a:r>
                        <a:rPr lang="ru-RU" sz="1800" u="none" strike="noStrike" cap="none" baseline="0" dirty="0"/>
                        <a:t>и речью</a:t>
                      </a:r>
                      <a:endParaRPr sz="18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ru-RU" sz="1800" dirty="0" err="1"/>
                        <a:t>Любанович</a:t>
                      </a:r>
                      <a:r>
                        <a:rPr lang="ru-RU" sz="1800" dirty="0"/>
                        <a:t> Билл «</a:t>
                      </a:r>
                      <a:r>
                        <a:rPr lang="en-US" sz="1800" dirty="0" err="1"/>
                        <a:t>FastAPI</a:t>
                      </a:r>
                      <a:r>
                        <a:rPr lang="en-US" sz="1800" dirty="0"/>
                        <a:t>: </a:t>
                      </a:r>
                      <a:r>
                        <a:rPr lang="ru-RU" sz="1800" dirty="0"/>
                        <a:t>веб-разработка на </a:t>
                      </a:r>
                      <a:r>
                        <a:rPr lang="en-US" sz="1800" dirty="0"/>
                        <a:t>Python</a:t>
                      </a:r>
                      <a:r>
                        <a:rPr lang="ru-RU" sz="1800" dirty="0"/>
                        <a:t>»</a:t>
                      </a:r>
                      <a:endParaRPr sz="1800" b="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ru-RU" sz="1800" u="none" strike="noStrike" cap="none" baseline="0" dirty="0"/>
                        <a:t>Книга по разработке на фреймворке </a:t>
                      </a:r>
                      <a:r>
                        <a:rPr lang="en-US" sz="1800" u="none" strike="noStrike" cap="none" baseline="0" dirty="0" err="1"/>
                        <a:t>FastAPI</a:t>
                      </a:r>
                      <a:endParaRPr lang="en-US" sz="1800" u="none" strike="noStrike" cap="none" baseline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19917816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dirty="0"/>
                        <a:t>Manning, </a:t>
                      </a:r>
                      <a:r>
                        <a:rPr lang="en-US" sz="1800" b="0" dirty="0" err="1"/>
                        <a:t>Raghavan</a:t>
                      </a:r>
                      <a:r>
                        <a:rPr lang="en-US" sz="1800" b="0" dirty="0"/>
                        <a:t>, </a:t>
                      </a:r>
                      <a:r>
                        <a:rPr lang="en-US" sz="1800" b="0" dirty="0" err="1"/>
                        <a:t>Schütze</a:t>
                      </a:r>
                      <a:r>
                        <a:rPr lang="en-US" sz="1800" b="0" dirty="0"/>
                        <a:t> </a:t>
                      </a:r>
                      <a:r>
                        <a:rPr lang="en-US" sz="1800" b="0" i="1" dirty="0"/>
                        <a:t>Introduction to Information Retrieval</a:t>
                      </a:r>
                      <a:endParaRPr sz="1800" b="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ru-RU" sz="1800" u="none" strike="noStrike" cap="none" dirty="0"/>
                        <a:t>Демонстрирует процессы и подходы разбиения</a:t>
                      </a:r>
                      <a:r>
                        <a:rPr lang="ru-RU" sz="1800" u="none" strike="noStrike" cap="none" baseline="0" dirty="0"/>
                        <a:t> и подготовки данных к семантическому поиску</a:t>
                      </a:r>
                      <a:endParaRPr lang="en-US" sz="1800" u="none" strike="noStrike" cap="none" baseline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 bwMode="auto">
          <a:xfrm>
            <a:off x="513420" y="1878657"/>
            <a:ext cx="5371814" cy="431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  <a:defRPr/>
            </a:pPr>
            <a:r>
              <a:rPr lang="ru-RU" sz="1600" b="1" dirty="0"/>
              <a:t>Источники данных</a:t>
            </a:r>
            <a:r>
              <a:rPr lang="en-US" sz="1600" b="1" dirty="0"/>
              <a:t>:</a:t>
            </a:r>
          </a:p>
          <a:p>
            <a:pPr marL="285750" marR="0" lvl="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Аудиозаписи рабочих встреч команды (при условии разрешения)</a:t>
            </a:r>
            <a:r>
              <a:rPr lang="en-US" sz="1600" dirty="0"/>
              <a:t>;</a:t>
            </a:r>
          </a:p>
          <a:p>
            <a:pPr marL="285750" marR="0" lvl="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Метаданные встречи (дата, тематика встречи и др.) производится через ручной ввод данных</a:t>
            </a:r>
            <a:r>
              <a:rPr lang="en-US" sz="1600" dirty="0"/>
              <a:t>;</a:t>
            </a:r>
            <a:endParaRPr lang="ru-RU" sz="1600" dirty="0"/>
          </a:p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defRPr/>
            </a:pPr>
            <a:endParaRPr lang="ru-RU" sz="1600" dirty="0"/>
          </a:p>
          <a:p>
            <a:pPr marL="0" lvl="0" indent="0" algn="just">
              <a:spcBef>
                <a:spcPts val="0"/>
              </a:spcBef>
              <a:defRPr/>
            </a:pPr>
            <a:r>
              <a:rPr lang="ru-RU" sz="1600" b="1" dirty="0"/>
              <a:t>Доступ</a:t>
            </a:r>
            <a:r>
              <a:rPr lang="en-US" sz="1600" b="1" dirty="0"/>
              <a:t>: </a:t>
            </a:r>
            <a:r>
              <a:rPr lang="ru-RU" sz="1600" dirty="0"/>
              <a:t>Доступ к записям рабочих встреч возможен с разрешения руководства или команды.</a:t>
            </a:r>
          </a:p>
          <a:p>
            <a:pPr marL="0" lvl="0" indent="0" algn="just">
              <a:spcBef>
                <a:spcPts val="0"/>
              </a:spcBef>
              <a:defRPr/>
            </a:pPr>
            <a:endParaRPr lang="ru-RU" sz="1600" b="1" dirty="0"/>
          </a:p>
          <a:p>
            <a:pPr marL="0" lvl="0" indent="0" algn="just">
              <a:spcBef>
                <a:spcPts val="0"/>
              </a:spcBef>
              <a:defRPr/>
            </a:pPr>
            <a:r>
              <a:rPr lang="ru-RU" sz="1600" b="1" dirty="0"/>
              <a:t>Ограничения</a:t>
            </a:r>
            <a:r>
              <a:rPr lang="en-US" sz="1600" b="1" dirty="0"/>
              <a:t>:</a:t>
            </a:r>
            <a:endParaRPr lang="ru-RU" sz="1600" b="1" dirty="0"/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Входные данные для загрузки имеют формат </a:t>
            </a:r>
            <a:r>
              <a:rPr lang="en-US" sz="1600" b="1" dirty="0"/>
              <a:t>MP3</a:t>
            </a:r>
            <a:r>
              <a:rPr lang="ru-RU" sz="1600" b="1" dirty="0"/>
              <a:t>/</a:t>
            </a:r>
            <a:r>
              <a:rPr lang="en-US" sz="1600" b="1" dirty="0"/>
              <a:t>WAV</a:t>
            </a:r>
            <a:r>
              <a:rPr lang="en-US" sz="1600" dirty="0"/>
              <a:t>;</a:t>
            </a:r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Максимально допустимая продолжительность одной аудиозаписи составляет </a:t>
            </a:r>
            <a:r>
              <a:rPr lang="ru-RU" sz="1600" b="1" dirty="0"/>
              <a:t>не более 1 часа (60 минут)</a:t>
            </a:r>
            <a:r>
              <a:rPr lang="en-US" sz="1600" dirty="0"/>
              <a:t>;</a:t>
            </a:r>
            <a:endParaRPr lang="ru-RU" sz="1600" dirty="0"/>
          </a:p>
          <a:p>
            <a:pPr marL="285750" lvl="0" indent="-285750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1600" dirty="0"/>
              <a:t>Качество </a:t>
            </a:r>
            <a:r>
              <a:rPr lang="ru-RU" sz="1600" dirty="0" err="1"/>
              <a:t>транскрибации</a:t>
            </a:r>
            <a:r>
              <a:rPr lang="ru-RU" sz="1600" dirty="0"/>
              <a:t> аудио зависит от источника данных и наличия в нем «шума»</a:t>
            </a:r>
            <a:r>
              <a:rPr lang="en-US" sz="1600" dirty="0"/>
              <a:t>.</a:t>
            </a:r>
            <a:endParaRPr sz="1600" dirty="0"/>
          </a:p>
        </p:txBody>
      </p:sp>
      <p:sp>
        <p:nvSpPr>
          <p:cNvPr id="111" name="Google Shape;111;p5"/>
          <p:cNvSpPr txBox="1">
            <a:spLocks noGrp="1"/>
          </p:cNvSpPr>
          <p:nvPr>
            <p:ph type="body" idx="3"/>
          </p:nvPr>
        </p:nvSpPr>
        <p:spPr bwMode="auto">
          <a:xfrm>
            <a:off x="513416" y="874234"/>
            <a:ext cx="78252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ru-RU" b="1" dirty="0"/>
              <a:t>Источники, доступ, ограничения</a:t>
            </a:r>
            <a:endParaRPr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" name="Google Shape;116;g38c77f70026_0_28"/>
          <p:cNvSpPr txBox="1">
            <a:spLocks noGrp="1"/>
          </p:cNvSpPr>
          <p:nvPr>
            <p:ph type="body" idx="1"/>
          </p:nvPr>
        </p:nvSpPr>
        <p:spPr bwMode="auto">
          <a:xfrm>
            <a:off x="532874" y="1168401"/>
            <a:ext cx="3370259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defRPr/>
            </a:pPr>
            <a:r>
              <a:rPr lang="ru-RU" sz="1800" dirty="0"/>
              <a:t>Язык программирования</a:t>
            </a:r>
            <a:r>
              <a:rPr lang="en-US" sz="1800" dirty="0"/>
              <a:t>: </a:t>
            </a:r>
            <a:r>
              <a:rPr lang="en-US" sz="1800" b="1" dirty="0"/>
              <a:t>Python</a:t>
            </a:r>
            <a:r>
              <a:rPr lang="ru-RU" dirty="0"/>
              <a:t> </a:t>
            </a:r>
            <a:endParaRPr lang="en-US" dirty="0"/>
          </a:p>
          <a:p>
            <a:pPr marL="0" lvl="0" indent="0">
              <a:spcBef>
                <a:spcPts val="0"/>
              </a:spcBef>
              <a:defRPr/>
            </a:pPr>
            <a:endParaRPr dirty="0"/>
          </a:p>
        </p:txBody>
      </p:sp>
      <p:sp>
        <p:nvSpPr>
          <p:cNvPr id="117" name="Google Shape;117;g38c77f70026_0_28"/>
          <p:cNvSpPr txBox="1">
            <a:spLocks noGrp="1"/>
          </p:cNvSpPr>
          <p:nvPr>
            <p:ph type="body" idx="3"/>
          </p:nvPr>
        </p:nvSpPr>
        <p:spPr bwMode="auto">
          <a:xfrm>
            <a:off x="532875" y="534667"/>
            <a:ext cx="78252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ru-RU" b="1" dirty="0"/>
              <a:t>Методы/инструменты исследования и разработки</a:t>
            </a:r>
            <a:endParaRPr b="1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5BEF17E4-392E-C400-6468-9DF402904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341055"/>
              </p:ext>
            </p:extLst>
          </p:nvPr>
        </p:nvGraphicFramePr>
        <p:xfrm>
          <a:off x="262467" y="1871134"/>
          <a:ext cx="11430000" cy="3610881"/>
        </p:xfrm>
        <a:graphic>
          <a:graphicData uri="http://schemas.openxmlformats.org/drawingml/2006/table">
            <a:tbl>
              <a:tblPr firstRow="1" bandRow="1">
                <a:tableStyleId>{9193F9F8-B168-44EE-94C5-3476742ABDB6}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849575523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880412386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583239085"/>
                    </a:ext>
                  </a:extLst>
                </a:gridCol>
              </a:tblGrid>
              <a:tr h="567266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КЛИЕНТСКАЯ ЧАСТЬ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СЕРВЕРНАЯ ЧАСТЬ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БАЗА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38545"/>
                  </a:ext>
                </a:extLst>
              </a:tr>
              <a:tr h="30436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643176"/>
                  </a:ext>
                </a:extLst>
              </a:tr>
            </a:tbl>
          </a:graphicData>
        </a:graphic>
      </p:graphicFrame>
      <p:pic>
        <p:nvPicPr>
          <p:cNvPr id="1026" name="Picture 2" descr="How to install PostgreSQL 10 on Ubuntu 17.04 - installvirtual">
            <a:extLst>
              <a:ext uri="{FF2B5EF4-FFF2-40B4-BE49-F238E27FC236}">
                <a16:creationId xmlns:a16="http://schemas.microsoft.com/office/drawing/2014/main" id="{F36FF21C-1945-BF11-7387-73EF12CFE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066" y="3276281"/>
            <a:ext cx="3258985" cy="1335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uilding and Deploying Snowflake and Streamlit Applications">
            <a:extLst>
              <a:ext uri="{FF2B5EF4-FFF2-40B4-BE49-F238E27FC236}">
                <a16:creationId xmlns:a16="http://schemas.microsoft.com/office/drawing/2014/main" id="{977B41A7-A883-BCB6-44AC-0A436367B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32" y="2461397"/>
            <a:ext cx="3703943" cy="215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Почему Вы должны попробовать FastAPI? / Хабр">
            <a:extLst>
              <a:ext uri="{FF2B5EF4-FFF2-40B4-BE49-F238E27FC236}">
                <a16:creationId xmlns:a16="http://schemas.microsoft.com/office/drawing/2014/main" id="{B2BEB1A5-6568-0980-DA79-7B1B9862E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940" y="3147038"/>
            <a:ext cx="3673053" cy="146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" name="Google Shape;116;g38c77f70026_0_28"/>
          <p:cNvSpPr txBox="1">
            <a:spLocks noGrp="1"/>
          </p:cNvSpPr>
          <p:nvPr>
            <p:ph type="body" idx="1"/>
          </p:nvPr>
        </p:nvSpPr>
        <p:spPr bwMode="auto">
          <a:xfrm>
            <a:off x="431273" y="1261533"/>
            <a:ext cx="5478459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 marL="0" lvl="0" indent="0" algn="just">
              <a:lnSpc>
                <a:spcPct val="220000"/>
              </a:lnSpc>
              <a:spcBef>
                <a:spcPts val="0"/>
              </a:spcBef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 (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серверная часть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разработка будет производиться на фреймворке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FastAPI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285750" lvl="0" indent="-285750" algn="just">
              <a:lnSpc>
                <a:spcPct val="2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быстрый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backend-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фреймворк</a:t>
            </a:r>
          </a:p>
          <a:p>
            <a:pPr marL="285750" lvl="0" indent="-285750" algn="just">
              <a:lnSpc>
                <a:spcPct val="2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Обладает асинхронностью</a:t>
            </a:r>
          </a:p>
          <a:p>
            <a:pPr marL="285750" lvl="0" indent="-285750" algn="just">
              <a:lnSpc>
                <a:spcPct val="2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хорошо держит API под нагрузкой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7" name="Google Shape;117;g38c77f70026_0_28"/>
          <p:cNvSpPr txBox="1">
            <a:spLocks noGrp="1"/>
          </p:cNvSpPr>
          <p:nvPr>
            <p:ph type="body" idx="3"/>
          </p:nvPr>
        </p:nvSpPr>
        <p:spPr bwMode="auto">
          <a:xfrm>
            <a:off x="532875" y="534667"/>
            <a:ext cx="78252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ru-RU" b="1" dirty="0"/>
              <a:t>Методы/инструменты исследования и разработки</a:t>
            </a:r>
            <a:endParaRPr b="1" dirty="0"/>
          </a:p>
        </p:txBody>
      </p:sp>
      <p:sp>
        <p:nvSpPr>
          <p:cNvPr id="3" name="Google Shape;116;g38c77f70026_0_28">
            <a:extLst>
              <a:ext uri="{FF2B5EF4-FFF2-40B4-BE49-F238E27FC236}">
                <a16:creationId xmlns:a16="http://schemas.microsoft.com/office/drawing/2014/main" id="{E748F3E8-A773-BE94-F758-5CD28D0954A0}"/>
              </a:ext>
            </a:extLst>
          </p:cNvPr>
          <p:cNvSpPr txBox="1">
            <a:spLocks/>
          </p:cNvSpPr>
          <p:nvPr/>
        </p:nvSpPr>
        <p:spPr bwMode="auto">
          <a:xfrm>
            <a:off x="329674" y="4250268"/>
            <a:ext cx="5766326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9pPr>
          </a:lstStyle>
          <a:p>
            <a:pPr marL="0" indent="0" algn="just">
              <a:lnSpc>
                <a:spcPct val="220000"/>
              </a:lnSpc>
              <a:spcBef>
                <a:spcPts val="0"/>
              </a:spcBef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Frontend (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клиентская сторона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разработка будет производиться на фреймворке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Streamlit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285750" indent="-285750" algn="just">
              <a:lnSpc>
                <a:spcPct val="2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быстрый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UI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lnSpc>
                <a:spcPct val="2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Простая развертка</a:t>
            </a:r>
          </a:p>
          <a:p>
            <a:pPr marL="285750" indent="-285750" algn="just">
              <a:lnSpc>
                <a:spcPct val="2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Имеет легкую настройку для создания интерфейса для чат-бота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Google Shape;116;g38c77f70026_0_28">
            <a:extLst>
              <a:ext uri="{FF2B5EF4-FFF2-40B4-BE49-F238E27FC236}">
                <a16:creationId xmlns:a16="http://schemas.microsoft.com/office/drawing/2014/main" id="{D388EC12-39D7-36E4-773B-9B5E72D4DCE3}"/>
              </a:ext>
            </a:extLst>
          </p:cNvPr>
          <p:cNvSpPr txBox="1">
            <a:spLocks/>
          </p:cNvSpPr>
          <p:nvPr/>
        </p:nvSpPr>
        <p:spPr bwMode="auto">
          <a:xfrm>
            <a:off x="6282270" y="2082800"/>
            <a:ext cx="5478459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9pPr>
          </a:lstStyle>
          <a:p>
            <a:pPr marL="0" indent="0" algn="just">
              <a:lnSpc>
                <a:spcPct val="220000"/>
              </a:lnSpc>
              <a:spcBef>
                <a:spcPts val="0"/>
              </a:spcBef>
              <a:defRPr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Данные будут храниться в базе данных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PostgreSQL:</a:t>
            </a:r>
          </a:p>
          <a:p>
            <a:pPr marL="285750" indent="-285750" algn="just">
              <a:lnSpc>
                <a:spcPct val="2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Гибкость</a:t>
            </a:r>
          </a:p>
          <a:p>
            <a:pPr marL="285750" indent="-285750" algn="just">
              <a:lnSpc>
                <a:spcPct val="2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Надежная и мощная БД</a:t>
            </a:r>
          </a:p>
          <a:p>
            <a:pPr marL="285750" indent="-285750" algn="just">
              <a:lnSpc>
                <a:spcPct val="2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Расширение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pgvector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работы с векторами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461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" name="Google Shape;117;g38c77f70026_0_28"/>
          <p:cNvSpPr txBox="1">
            <a:spLocks noGrp="1"/>
          </p:cNvSpPr>
          <p:nvPr>
            <p:ph type="body" idx="3"/>
          </p:nvPr>
        </p:nvSpPr>
        <p:spPr bwMode="auto">
          <a:xfrm>
            <a:off x="532875" y="534667"/>
            <a:ext cx="78252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ru-RU" b="1" dirty="0"/>
              <a:t>Процесс взаимодействия пользователя с сервисом</a:t>
            </a: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en-US" b="1" dirty="0"/>
              <a:t>The process of user interaction with the service</a:t>
            </a:r>
            <a:endParaRPr b="1" dirty="0"/>
          </a:p>
        </p:txBody>
      </p:sp>
      <p:pic>
        <p:nvPicPr>
          <p:cNvPr id="6" name="Рисунок 5" descr="Изображение выглядит как текст, снимок экрана, диаграмма, зарисовка">
            <a:extLst>
              <a:ext uri="{FF2B5EF4-FFF2-40B4-BE49-F238E27FC236}">
                <a16:creationId xmlns:a16="http://schemas.microsoft.com/office/drawing/2014/main" id="{9A9069BB-FE54-E66C-0A9E-D54E55E490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0" t="16324" b="23216"/>
          <a:stretch/>
        </p:blipFill>
        <p:spPr bwMode="auto">
          <a:xfrm>
            <a:off x="1346200" y="1957076"/>
            <a:ext cx="9085897" cy="373252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40345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" name="Google Shape;117;g38c77f70026_0_28"/>
          <p:cNvSpPr txBox="1">
            <a:spLocks noGrp="1"/>
          </p:cNvSpPr>
          <p:nvPr>
            <p:ph type="body" idx="3"/>
          </p:nvPr>
        </p:nvSpPr>
        <p:spPr bwMode="auto">
          <a:xfrm>
            <a:off x="473609" y="204467"/>
            <a:ext cx="78252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ru-RU" b="1" dirty="0"/>
              <a:t>Пример пользовательского интерфейса</a:t>
            </a:r>
            <a:endParaRPr b="1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920B53-D262-DCB5-F6FD-02E4AB066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63600"/>
            <a:ext cx="6096000" cy="361927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CA4519-359A-9368-5E1C-CC0D5A5BA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2673235"/>
            <a:ext cx="6096001" cy="3619270"/>
          </a:xfrm>
          <a:prstGeom prst="rect">
            <a:avLst/>
          </a:prstGeom>
        </p:spPr>
      </p:pic>
      <p:sp>
        <p:nvSpPr>
          <p:cNvPr id="4" name="Google Shape;116;g38c77f70026_0_28">
            <a:extLst>
              <a:ext uri="{FF2B5EF4-FFF2-40B4-BE49-F238E27FC236}">
                <a16:creationId xmlns:a16="http://schemas.microsoft.com/office/drawing/2014/main" id="{5CFE00C0-3347-25E8-7CB3-9CA8008CBDAC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1718946" y="4384040"/>
            <a:ext cx="5478459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 marL="0" lvl="0" indent="0" algn="just">
              <a:lnSpc>
                <a:spcPct val="220000"/>
              </a:lnSpc>
              <a:spcBef>
                <a:spcPts val="0"/>
              </a:spcBef>
              <a:defRPr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Интерфейс для загрузки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Google Shape;116;g38c77f70026_0_28">
            <a:extLst>
              <a:ext uri="{FF2B5EF4-FFF2-40B4-BE49-F238E27FC236}">
                <a16:creationId xmlns:a16="http://schemas.microsoft.com/office/drawing/2014/main" id="{6F41A423-ED3F-481D-D040-308F68EC8E0D}"/>
              </a:ext>
            </a:extLst>
          </p:cNvPr>
          <p:cNvSpPr txBox="1">
            <a:spLocks/>
          </p:cNvSpPr>
          <p:nvPr/>
        </p:nvSpPr>
        <p:spPr bwMode="auto">
          <a:xfrm>
            <a:off x="7855586" y="2064318"/>
            <a:ext cx="5478459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9pPr>
          </a:lstStyle>
          <a:p>
            <a:pPr marL="0" indent="0" algn="just">
              <a:lnSpc>
                <a:spcPct val="220000"/>
              </a:lnSpc>
              <a:spcBef>
                <a:spcPts val="0"/>
              </a:spcBef>
              <a:defRPr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Интерфейс чат бота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724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Google Shape;122;g38c77f70026_0_33"/>
          <p:cNvSpPr txBox="1">
            <a:spLocks noGrp="1"/>
          </p:cNvSpPr>
          <p:nvPr>
            <p:ph type="body" idx="1"/>
          </p:nvPr>
        </p:nvSpPr>
        <p:spPr bwMode="auto">
          <a:xfrm>
            <a:off x="182881" y="1666240"/>
            <a:ext cx="4673600" cy="507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  <a:defRPr/>
            </a:pPr>
            <a:r>
              <a:rPr lang="ru-RU" sz="2000" b="1" dirty="0"/>
              <a:t>Апрель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разработка серверной части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  <a:defRPr/>
            </a:pPr>
            <a:r>
              <a:rPr lang="ru-RU" sz="2000" b="1" dirty="0"/>
              <a:t>Май</a:t>
            </a:r>
            <a:r>
              <a:rPr lang="en-US" sz="2000" b="1" dirty="0"/>
              <a:t>: </a:t>
            </a:r>
            <a:r>
              <a:rPr lang="ru-RU" sz="2000" dirty="0"/>
              <a:t>развертывание сервиса в рабочей среде, сбор метрик и формирование результатов</a:t>
            </a:r>
            <a:r>
              <a:rPr lang="en-US" sz="2000" dirty="0"/>
              <a:t>.</a:t>
            </a:r>
            <a:r>
              <a:rPr lang="ru-RU" sz="2000" dirty="0"/>
              <a:t> Написание текста курсовой работы</a:t>
            </a:r>
            <a:endParaRPr lang="en-US" sz="2000" dirty="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  <a:defRPr/>
            </a:pPr>
            <a:endParaRPr lang="en-US" sz="2000" dirty="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  <a:defRPr/>
            </a:pPr>
            <a:r>
              <a:rPr lang="ru-RU" sz="2000" b="1" dirty="0"/>
              <a:t>Ресурсы</a:t>
            </a:r>
            <a:r>
              <a:rPr lang="en-US" sz="2000" b="1" dirty="0"/>
              <a:t>:</a:t>
            </a:r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Персональный компьютер (ПК)/ ноутбук</a:t>
            </a:r>
            <a:r>
              <a:rPr lang="en-US" sz="2000" dirty="0"/>
              <a:t>;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Сервер для развертывания </a:t>
            </a:r>
            <a:r>
              <a:rPr lang="en-US" sz="2000" dirty="0"/>
              <a:t>Large Language Model (LLM)</a:t>
            </a:r>
            <a:r>
              <a:rPr lang="ru-RU" sz="2000" dirty="0"/>
              <a:t> для </a:t>
            </a:r>
            <a:r>
              <a:rPr lang="ru-RU" sz="2000" dirty="0" err="1"/>
              <a:t>траскрибации</a:t>
            </a:r>
            <a:r>
              <a:rPr lang="ru-RU" sz="2000" dirty="0"/>
              <a:t>, нормализации и др.</a:t>
            </a:r>
            <a:r>
              <a:rPr lang="en-US" sz="2000" dirty="0"/>
              <a:t>;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База данных для хранения данных.</a:t>
            </a:r>
            <a:endParaRPr sz="2000" dirty="0"/>
          </a:p>
        </p:txBody>
      </p:sp>
      <p:sp>
        <p:nvSpPr>
          <p:cNvPr id="123" name="Google Shape;123;g38c77f70026_0_33"/>
          <p:cNvSpPr txBox="1">
            <a:spLocks noGrp="1"/>
          </p:cNvSpPr>
          <p:nvPr>
            <p:ph type="body" idx="3"/>
          </p:nvPr>
        </p:nvSpPr>
        <p:spPr bwMode="auto">
          <a:xfrm>
            <a:off x="182881" y="772160"/>
            <a:ext cx="458216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ru-RU" b="1" dirty="0"/>
              <a:t>Оценка масштаба (время/ресурсы)</a:t>
            </a:r>
            <a:endParaRPr b="1" dirty="0"/>
          </a:p>
        </p:txBody>
      </p:sp>
      <p:sp>
        <p:nvSpPr>
          <p:cNvPr id="2" name="Google Shape;136;p7">
            <a:extLst>
              <a:ext uri="{FF2B5EF4-FFF2-40B4-BE49-F238E27FC236}">
                <a16:creationId xmlns:a16="http://schemas.microsoft.com/office/drawing/2014/main" id="{BFEEAB62-0719-2CD0-7218-C6923CF79BA6}"/>
              </a:ext>
            </a:extLst>
          </p:cNvPr>
          <p:cNvSpPr txBox="1">
            <a:spLocks/>
          </p:cNvSpPr>
          <p:nvPr/>
        </p:nvSpPr>
        <p:spPr bwMode="auto">
          <a:xfrm>
            <a:off x="5829619" y="1389800"/>
            <a:ext cx="6362381" cy="1617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400"/>
              <a:buFont typeface="Unbounded"/>
              <a:buNone/>
              <a:tabLst/>
              <a:defRPr/>
            </a:pPr>
            <a:r>
              <a:rPr lang="ru-RU" sz="2400" b="1" dirty="0">
                <a:solidFill>
                  <a:srgbClr val="102D69"/>
                </a:solidFill>
                <a:latin typeface="Unbounded"/>
              </a:rPr>
              <a:t>Промежуточные итоги</a:t>
            </a:r>
            <a:endParaRPr kumimoji="0" lang="ru-RU" sz="2400" b="1" i="0" u="none" strike="noStrike" kern="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Unbounded"/>
            </a:endParaRPr>
          </a:p>
        </p:txBody>
      </p:sp>
      <p:sp>
        <p:nvSpPr>
          <p:cNvPr id="3" name="Google Shape;137;p7">
            <a:extLst>
              <a:ext uri="{FF2B5EF4-FFF2-40B4-BE49-F238E27FC236}">
                <a16:creationId xmlns:a16="http://schemas.microsoft.com/office/drawing/2014/main" id="{3DBE205B-5E41-620F-4709-BE1B2C7CAFEC}"/>
              </a:ext>
            </a:extLst>
          </p:cNvPr>
          <p:cNvSpPr txBox="1">
            <a:spLocks/>
          </p:cNvSpPr>
          <p:nvPr/>
        </p:nvSpPr>
        <p:spPr bwMode="auto">
          <a:xfrm>
            <a:off x="5829619" y="2342668"/>
            <a:ext cx="6362381" cy="2696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</a:defRPr>
            </a:lvl9pPr>
          </a:lstStyle>
          <a:p>
            <a:pPr indent="-317500">
              <a:lnSpc>
                <a:spcPct val="90000"/>
              </a:lnSpc>
              <a:spcBef>
                <a:spcPts val="0"/>
              </a:spcBef>
              <a:buFont typeface="Onest"/>
              <a:buChar char="●"/>
              <a:defRPr/>
            </a:pPr>
            <a:r>
              <a:rPr lang="ru-RU" sz="2400" dirty="0"/>
              <a:t>Есть черновой вариант курсовой работы по всем разделам</a:t>
            </a:r>
            <a:r>
              <a:rPr lang="en-US" sz="2400" dirty="0"/>
              <a:t>;</a:t>
            </a:r>
            <a:endParaRPr lang="ru-RU" sz="2400" dirty="0"/>
          </a:p>
          <a:p>
            <a:pPr indent="-317500">
              <a:lnSpc>
                <a:spcPct val="90000"/>
              </a:lnSpc>
              <a:spcBef>
                <a:spcPts val="0"/>
              </a:spcBef>
              <a:buFont typeface="Onest"/>
              <a:buChar char="●"/>
              <a:defRPr/>
            </a:pPr>
            <a:r>
              <a:rPr lang="ru-RU" sz="2400"/>
              <a:t>Разработан первый </a:t>
            </a:r>
            <a:r>
              <a:rPr lang="ru-RU" sz="2400" dirty="0"/>
              <a:t>вариант клиентского интерфейса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>
            <a:spLocks noGrp="1"/>
          </p:cNvSpPr>
          <p:nvPr>
            <p:ph type="body" idx="3"/>
          </p:nvPr>
        </p:nvSpPr>
        <p:spPr bwMode="auto">
          <a:xfrm>
            <a:off x="677900" y="861373"/>
            <a:ext cx="57531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ru-RU" b="1" dirty="0"/>
              <a:t>Сильные стороны </a:t>
            </a:r>
            <a:endParaRPr b="1" dirty="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ru-RU" b="1" dirty="0"/>
              <a:t>моей идеи</a:t>
            </a:r>
            <a:endParaRPr b="1" dirty="0"/>
          </a:p>
        </p:txBody>
      </p:sp>
      <p:sp>
        <p:nvSpPr>
          <p:cNvPr id="129" name="Google Shape;129;p6"/>
          <p:cNvSpPr txBox="1">
            <a:spLocks noGrp="1"/>
          </p:cNvSpPr>
          <p:nvPr>
            <p:ph type="body" idx="3"/>
          </p:nvPr>
        </p:nvSpPr>
        <p:spPr bwMode="auto">
          <a:xfrm>
            <a:off x="5959475" y="948373"/>
            <a:ext cx="57531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ru-RU" b="1"/>
              <a:t>Зоны риска/неясности</a:t>
            </a:r>
            <a:endParaRPr b="1"/>
          </a:p>
        </p:txBody>
      </p:sp>
      <p:sp>
        <p:nvSpPr>
          <p:cNvPr id="130" name="Google Shape;130;p6"/>
          <p:cNvSpPr txBox="1">
            <a:spLocks noGrp="1"/>
          </p:cNvSpPr>
          <p:nvPr>
            <p:ph type="body" idx="1"/>
          </p:nvPr>
        </p:nvSpPr>
        <p:spPr bwMode="auto">
          <a:xfrm>
            <a:off x="532875" y="2394223"/>
            <a:ext cx="48927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 lnSpcReduction="10000"/>
          </a:bodyPr>
          <a:lstStyle/>
          <a:p>
            <a:pPr marL="285750" lvl="0" indent="-285750" algn="l">
              <a:spcBef>
                <a:spcPts val="0"/>
              </a:spcBef>
              <a:buSzPts val="1400"/>
              <a:buFont typeface="Arial" panose="020B0604020202020204" pitchFamily="34" charset="0"/>
              <a:buChar char="•"/>
              <a:defRPr/>
            </a:pPr>
            <a:r>
              <a:rPr lang="ru-RU" sz="1800" dirty="0"/>
              <a:t>Решает актуальную бизнес задачу - потеря контекста и ссылок при большом числе </a:t>
            </a:r>
            <a:r>
              <a:rPr lang="ru-RU" sz="1800" dirty="0" err="1"/>
              <a:t>созвонов</a:t>
            </a:r>
            <a:r>
              <a:rPr lang="ru-RU" sz="1800" dirty="0"/>
              <a:t>, необходимость быстро восстановить «что решили»</a:t>
            </a:r>
            <a:r>
              <a:rPr lang="en-US" sz="1800" dirty="0"/>
              <a:t>;</a:t>
            </a:r>
            <a:endParaRPr lang="ru-RU" sz="1800" dirty="0"/>
          </a:p>
          <a:p>
            <a:pPr marL="285750" lvl="0" indent="-285750" algn="l">
              <a:spcBef>
                <a:spcPts val="0"/>
              </a:spcBef>
              <a:buSzPts val="1400"/>
              <a:buFont typeface="Arial" panose="020B0604020202020204" pitchFamily="34" charset="0"/>
              <a:buChar char="•"/>
              <a:defRPr/>
            </a:pPr>
            <a:r>
              <a:rPr lang="ru-RU" sz="1800" dirty="0"/>
              <a:t>Автоматизирует процесс подготовки резюме по встречи и сохраняет результат в единое место хранения</a:t>
            </a:r>
            <a:r>
              <a:rPr lang="en-US" sz="1800" dirty="0"/>
              <a:t>;</a:t>
            </a:r>
            <a:endParaRPr lang="ru-RU" sz="1800" dirty="0"/>
          </a:p>
          <a:p>
            <a:pPr marL="285750" lvl="0" indent="-285750" algn="l">
              <a:spcBef>
                <a:spcPts val="0"/>
              </a:spcBef>
              <a:buSzPts val="1400"/>
              <a:buFont typeface="Arial" panose="020B0604020202020204" pitchFamily="34" charset="0"/>
              <a:buChar char="•"/>
              <a:defRPr/>
            </a:pPr>
            <a:r>
              <a:rPr lang="ru-RU" sz="1800" dirty="0"/>
              <a:t>Стандартизация формата протоколов под корпоративные нормы</a:t>
            </a:r>
            <a:r>
              <a:rPr lang="en-US" sz="1800" dirty="0"/>
              <a:t>;</a:t>
            </a:r>
          </a:p>
          <a:p>
            <a:pPr marL="285750" lvl="0" indent="-285750" algn="l">
              <a:spcBef>
                <a:spcPts val="0"/>
              </a:spcBef>
              <a:buSzPts val="1400"/>
              <a:buFont typeface="Arial" panose="020B0604020202020204" pitchFamily="34" charset="0"/>
              <a:buChar char="•"/>
              <a:defRPr/>
            </a:pPr>
            <a:r>
              <a:rPr lang="ru-RU" sz="1800" dirty="0"/>
              <a:t>Использование технологий </a:t>
            </a:r>
            <a:r>
              <a:rPr lang="en-US" sz="1800" dirty="0"/>
              <a:t>LLM </a:t>
            </a:r>
            <a:r>
              <a:rPr lang="ru-RU" sz="1800" dirty="0"/>
              <a:t>на каждом этапе процесса (начиная от </a:t>
            </a:r>
            <a:r>
              <a:rPr lang="ru-RU" sz="1800" dirty="0" err="1"/>
              <a:t>трнаскрибации</a:t>
            </a:r>
            <a:r>
              <a:rPr lang="ru-RU" sz="1800" dirty="0"/>
              <a:t> до формирование ответов на вопросы пользователя)</a:t>
            </a:r>
          </a:p>
          <a:p>
            <a:pPr marL="0" lvl="0" indent="0" algn="l">
              <a:spcBef>
                <a:spcPts val="0"/>
              </a:spcBef>
              <a:buSzPts val="1400"/>
              <a:defRPr/>
            </a:pPr>
            <a:endParaRPr sz="1800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49962" y="1902247"/>
            <a:ext cx="6022063" cy="42473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ru-RU" sz="1800" dirty="0"/>
              <a:t>Некачественные аудиозаписи с большим количеством «шумных данных» приведет к ошибочной </a:t>
            </a:r>
            <a:r>
              <a:rPr lang="ru-RU" sz="1800" dirty="0" err="1"/>
              <a:t>транскрибации</a:t>
            </a:r>
            <a:r>
              <a:rPr lang="ru-RU" sz="1800" dirty="0"/>
              <a:t> и дальнейшей нормализации текста</a:t>
            </a:r>
            <a:r>
              <a:rPr lang="en-US" sz="1800" dirty="0"/>
              <a:t>;</a:t>
            </a:r>
            <a:endParaRPr lang="ru-RU" sz="1800" dirty="0"/>
          </a:p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ru-RU" sz="1800" dirty="0"/>
              <a:t>Вычислительные способности сервера могут не потянуть активное использование сервиса</a:t>
            </a:r>
            <a:r>
              <a:rPr lang="en-US" sz="1800" dirty="0"/>
              <a:t>;</a:t>
            </a:r>
            <a:endParaRPr lang="ru-RU" sz="1800" dirty="0"/>
          </a:p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ru-RU" sz="1800" dirty="0"/>
              <a:t>Неоптимальный выбор индексации</a:t>
            </a:r>
            <a:r>
              <a:rPr lang="en-US" sz="1800" dirty="0"/>
              <a:t>, chunking</a:t>
            </a:r>
            <a:r>
              <a:rPr lang="ru-RU" sz="1800" dirty="0"/>
              <a:t> и др. параметров настройки </a:t>
            </a:r>
            <a:r>
              <a:rPr lang="en-US" sz="1800" dirty="0"/>
              <a:t>RAG </a:t>
            </a:r>
            <a:r>
              <a:rPr lang="ru-RU" sz="1800" dirty="0"/>
              <a:t>системы не позволит добиться высоких метрик</a:t>
            </a:r>
            <a:r>
              <a:rPr lang="en-US" sz="1800" dirty="0"/>
              <a:t>;</a:t>
            </a:r>
            <a:endParaRPr lang="ru-RU" sz="1800" dirty="0"/>
          </a:p>
          <a:p>
            <a:pPr marL="285750" lvl="0" indent="-285750" algn="l"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ru-RU" sz="1800" dirty="0"/>
              <a:t>Использование облачных LLM/ASR-API может требовать передачи данных на внешние серверы провайдера (в </a:t>
            </a:r>
            <a:r>
              <a:rPr lang="ru-RU" sz="1800" dirty="0" err="1"/>
              <a:t>т.ч</a:t>
            </a:r>
            <a:r>
              <a:rPr lang="ru-RU" sz="1800" dirty="0"/>
              <a:t>. находящиеся за пределами страны/организации), что ограничивает применимость решения для конфиденциальных данных. </a:t>
            </a:r>
            <a:endParaRPr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>
            <a:spLocks noGrp="1"/>
          </p:cNvSpPr>
          <p:nvPr>
            <p:ph type="title"/>
          </p:nvPr>
        </p:nvSpPr>
        <p:spPr bwMode="auto">
          <a:xfrm>
            <a:off x="515939" y="1180731"/>
            <a:ext cx="11196637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b="1" dirty="0"/>
              <a:t>Следующие шаги</a:t>
            </a:r>
            <a:endParaRPr b="1" dirty="0"/>
          </a:p>
        </p:txBody>
      </p:sp>
      <p:sp>
        <p:nvSpPr>
          <p:cNvPr id="137" name="Google Shape;137;p7"/>
          <p:cNvSpPr txBox="1">
            <a:spLocks noGrp="1"/>
          </p:cNvSpPr>
          <p:nvPr>
            <p:ph type="body" idx="1"/>
          </p:nvPr>
        </p:nvSpPr>
        <p:spPr bwMode="auto">
          <a:xfrm>
            <a:off x="515939" y="2133600"/>
            <a:ext cx="11196637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pPr>
            <a:r>
              <a:rPr lang="ru-RU" sz="2400" dirty="0"/>
              <a:t>Масштабирование сервиса для использование в других командах/компаниях</a:t>
            </a:r>
            <a:r>
              <a:rPr lang="en-US" sz="2400" dirty="0"/>
              <a:t>;</a:t>
            </a:r>
            <a:endParaRPr sz="2400" dirty="0"/>
          </a:p>
          <a:p>
            <a:pPr marL="457200" lvl="0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pPr>
            <a:r>
              <a:rPr lang="ru-RU" sz="2400" dirty="0"/>
              <a:t>Расширение функционала сервиса, например, правка нормализированного текста после </a:t>
            </a:r>
            <a:r>
              <a:rPr lang="ru-RU" sz="2400" dirty="0" err="1"/>
              <a:t>траскрибирования</a:t>
            </a:r>
            <a:r>
              <a:rPr lang="en-US" sz="2400" dirty="0"/>
              <a:t>;</a:t>
            </a: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>
            <a:spLocks noGrp="1"/>
          </p:cNvSpPr>
          <p:nvPr>
            <p:ph type="body" idx="1"/>
          </p:nvPr>
        </p:nvSpPr>
        <p:spPr bwMode="auto">
          <a:xfrm>
            <a:off x="550969" y="1841000"/>
            <a:ext cx="8729218" cy="24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В рамках курсового проекта сервис проектируется и апробируется для использования внутри конкретной </a:t>
            </a:r>
            <a:r>
              <a:rPr lang="ru-RU" sz="2000" dirty="0" err="1"/>
              <a:t>стартап</a:t>
            </a:r>
            <a:r>
              <a:rPr lang="ru-RU" sz="2000" dirty="0"/>
              <a:t>-команды (компании, где выполняется работа). Поэтому этапы нормализации и постобработки </a:t>
            </a:r>
            <a:r>
              <a:rPr lang="ru-RU" sz="2000" dirty="0" err="1"/>
              <a:t>транскрипта</a:t>
            </a:r>
            <a:r>
              <a:rPr lang="ru-RU" sz="2000" dirty="0"/>
              <a:t> ориентированы на внутренние корпоративные стандарты оформления, принятую терминологию и профессиональный сленг данной команды.</a:t>
            </a:r>
          </a:p>
          <a:p>
            <a:pPr marL="0" lvl="0" indent="0" algn="just">
              <a:spcBef>
                <a:spcPts val="0"/>
              </a:spcBef>
              <a:defRPr/>
            </a:pPr>
            <a:endParaRPr lang="ru-RU" sz="2000" dirty="0"/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В рамках разрабатываемого сервиса, </a:t>
            </a:r>
            <a:r>
              <a:rPr lang="ru-RU" sz="2000" dirty="0" err="1"/>
              <a:t>транскрипт</a:t>
            </a:r>
            <a:r>
              <a:rPr lang="ru-RU" sz="2000" dirty="0"/>
              <a:t> аудиофайла не будет выполнять определение спикеров и разметку по участникам.</a:t>
            </a:r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ru-RU" sz="2000" dirty="0"/>
          </a:p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Отсутствие продвинутой системы прав доступа и разграничения ролей</a:t>
            </a:r>
            <a:endParaRPr sz="2000" dirty="0"/>
          </a:p>
        </p:txBody>
      </p:sp>
      <p:sp>
        <p:nvSpPr>
          <p:cNvPr id="143" name="Google Shape;143;p8"/>
          <p:cNvSpPr txBox="1">
            <a:spLocks noGrp="1"/>
          </p:cNvSpPr>
          <p:nvPr>
            <p:ph type="body" idx="4"/>
          </p:nvPr>
        </p:nvSpPr>
        <p:spPr bwMode="auto">
          <a:xfrm>
            <a:off x="515938" y="1117600"/>
            <a:ext cx="43926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/>
            </a:pPr>
            <a:r>
              <a:rPr lang="ru-RU" b="1" dirty="0"/>
              <a:t>Границы проекта</a:t>
            </a:r>
            <a:endParaRPr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4">
      <a:dk1>
        <a:srgbClr val="102D69"/>
      </a:dk1>
      <a:lt1>
        <a:srgbClr val="102D69"/>
      </a:lt1>
      <a:dk2>
        <a:srgbClr val="DCFF05"/>
      </a:dk2>
      <a:lt2>
        <a:srgbClr val="DFC7F2"/>
      </a:lt2>
      <a:accent1>
        <a:srgbClr val="BA88E4"/>
      </a:accent1>
      <a:accent2>
        <a:srgbClr val="8966A6"/>
      </a:accent2>
      <a:accent3>
        <a:srgbClr val="F7FFC5"/>
      </a:accent3>
      <a:accent4>
        <a:srgbClr val="DCFF05"/>
      </a:accent4>
      <a:accent5>
        <a:srgbClr val="DFC7F2"/>
      </a:accent5>
      <a:accent6>
        <a:srgbClr val="102D69"/>
      </a:accent6>
      <a:hlink>
        <a:srgbClr val="102D69"/>
      </a:hlink>
      <a:folHlink>
        <a:srgbClr val="DCFF05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</TotalTime>
  <Words>879</Words>
  <Application>Microsoft Office PowerPoint</Application>
  <DocSecurity>0</DocSecurity>
  <PresentationFormat>Широкоэкранный</PresentationFormat>
  <Paragraphs>100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Tahoma</vt:lpstr>
      <vt:lpstr>Unbounded</vt:lpstr>
      <vt:lpstr>Onest</vt:lpstr>
      <vt:lpstr>Тема Office</vt:lpstr>
      <vt:lpstr>Станишевский Игорь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Следующие шаги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Станишевский Игорь</dc:title>
  <dc:subject/>
  <dc:creator>pribludovapolina@gmail.com</dc:creator>
  <cp:keywords/>
  <dc:description/>
  <cp:lastModifiedBy>Igor Stanishevskiy</cp:lastModifiedBy>
  <cp:revision>74</cp:revision>
  <dcterms:created xsi:type="dcterms:W3CDTF">2024-05-30T13:40:21Z</dcterms:created>
  <dcterms:modified xsi:type="dcterms:W3CDTF">2026-04-20T17:16:08Z</dcterms:modified>
  <cp:category/>
  <dc:identifier/>
  <cp:contentStatus/>
  <dc:language/>
  <cp:version/>
</cp:coreProperties>
</file>